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300"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1630" y="285115"/>
            <a:ext cx="11527790" cy="6309360"/>
          </a:xfrm>
        </p:spPr>
        <p:txBody>
          <a:bodyPr>
            <a:normAutofit lnSpcReduction="10000"/>
          </a:bodyPr>
          <a:lstStyle/>
          <a:p>
            <a:pPr algn="l"/>
            <a:r>
              <a:rPr lang="en-IN" altLang="en-US" b="1"/>
              <a:t>INTRODUCTION:</a:t>
            </a:r>
            <a:endParaRPr lang="en-IN" altLang="en-US" b="1"/>
          </a:p>
          <a:p>
            <a:pPr marL="342900" indent="-342900" algn="l">
              <a:buFont typeface="Wingdings" panose="05000000000000000000" charset="0"/>
              <a:buChar char="Ø"/>
            </a:pPr>
            <a:r>
              <a:rPr lang="en-US">
                <a:ln w="12700" cmpd="sng">
                  <a:noFill/>
                  <a:prstDash val="solid"/>
                </a:ln>
                <a:uFillTx/>
                <a:sym typeface="+mn-ea"/>
              </a:rPr>
              <a:t>Smart transportation are called as intelligent transportation or smart mobility, refers to the use of advanced tecnology and data-driven solution to improve the efficiency, safety,subtainability, and overall effectiveness of transportation systems. It is used with sensors, advanced communication technologies, automation and high-speed networks.</a:t>
            </a:r>
            <a:endParaRPr lang="en-US">
              <a:ln w="12700" cmpd="sng">
                <a:noFill/>
                <a:prstDash val="solid"/>
              </a:ln>
              <a:uFillTx/>
              <a:sym typeface="+mn-ea"/>
            </a:endParaRPr>
          </a:p>
          <a:p>
            <a:pPr marL="342900" indent="-342900" algn="l">
              <a:buFont typeface="Wingdings" panose="05000000000000000000" charset="0"/>
              <a:buChar char="Ø"/>
            </a:pPr>
            <a:r>
              <a:rPr lang="en-US" b="1" i="1">
                <a:ln>
                  <a:noFill/>
                </a:ln>
                <a:uFillTx/>
                <a:sym typeface="+mn-ea"/>
              </a:rPr>
              <a:t>BEN</a:t>
            </a:r>
            <a:r>
              <a:rPr lang="en-IN" altLang="en-US" b="1" i="1">
                <a:ln>
                  <a:noFill/>
                </a:ln>
                <a:uFillTx/>
                <a:sym typeface="+mn-ea"/>
              </a:rPr>
              <a:t>E</a:t>
            </a:r>
            <a:r>
              <a:rPr lang="en-US" b="1" i="1">
                <a:ln>
                  <a:noFill/>
                </a:ln>
                <a:uFillTx/>
                <a:sym typeface="+mn-ea"/>
              </a:rPr>
              <a:t>FITS OF SMART TRANSPORTATION:-</a:t>
            </a:r>
            <a:r>
              <a:rPr lang="en-US" sz="2000">
                <a:ln>
                  <a:noFill/>
                </a:ln>
                <a:uFillTx/>
                <a:sym typeface="+mn-ea"/>
              </a:rPr>
              <a:t> </a:t>
            </a:r>
            <a:endParaRPr lang="en-US" sz="2000">
              <a:ln>
                <a:noFill/>
              </a:ln>
              <a:uFillTx/>
              <a:sym typeface="+mn-ea"/>
            </a:endParaRPr>
          </a:p>
          <a:p>
            <a:pPr marL="1257300" lvl="2" indent="-342900" algn="l">
              <a:buFont typeface="Arial" panose="020B0604020202020204" pitchFamily="34" charset="0"/>
              <a:buChar char="•"/>
            </a:pPr>
            <a:r>
              <a:rPr lang="en-US" sz="2200">
                <a:ln>
                  <a:noFill/>
                </a:ln>
                <a:uFillTx/>
                <a:sym typeface="+mn-ea"/>
              </a:rPr>
              <a:t>Smart Transportation is safer and better managed.</a:t>
            </a:r>
            <a:endParaRPr lang="en-US" sz="2200">
              <a:ln>
                <a:noFill/>
              </a:ln>
              <a:uFillTx/>
              <a:sym typeface="+mn-ea"/>
            </a:endParaRPr>
          </a:p>
          <a:p>
            <a:pPr marL="1257300" lvl="2" indent="-342900" algn="l">
              <a:buFont typeface="Arial" panose="020B0604020202020204" pitchFamily="34" charset="0"/>
              <a:buChar char="•"/>
            </a:pPr>
            <a:r>
              <a:rPr lang="en-US" sz="2200">
                <a:ln>
                  <a:noFill/>
                </a:ln>
                <a:uFillTx/>
                <a:sym typeface="+mn-ea"/>
              </a:rPr>
              <a:t>It is more efficient and cost effective. </a:t>
            </a:r>
            <a:endParaRPr lang="en-US" sz="2200">
              <a:ln>
                <a:noFill/>
              </a:ln>
              <a:uFillTx/>
              <a:sym typeface="+mn-ea"/>
            </a:endParaRPr>
          </a:p>
          <a:p>
            <a:pPr marL="1257300" lvl="2" indent="-342900" algn="l">
              <a:buFont typeface="Arial" panose="020B0604020202020204" pitchFamily="34" charset="0"/>
              <a:buChar char="•"/>
            </a:pPr>
            <a:r>
              <a:rPr lang="en-US" sz="2200">
                <a:ln>
                  <a:noFill/>
                </a:ln>
                <a:uFillTx/>
                <a:sym typeface="+mn-ea"/>
              </a:rPr>
              <a:t>One major fear among smart city skeptics is its vulnerability to cyber attacks.Proper software updates, encrypted communications through virtual private network (VPN) tunnels and other multilayered security practices can mitigate the risk of cyber attacks.</a:t>
            </a:r>
            <a:endParaRPr lang="en-US" sz="2200">
              <a:ln>
                <a:noFill/>
              </a:ln>
              <a:uFillTx/>
              <a:sym typeface="+mn-ea"/>
            </a:endParaRPr>
          </a:p>
          <a:p>
            <a:pPr marL="1257300" lvl="2" indent="-342900" algn="l">
              <a:buFont typeface="Arial" panose="020B0604020202020204" pitchFamily="34" charset="0"/>
              <a:buChar char="•"/>
            </a:pPr>
            <a:r>
              <a:rPr lang="en-US" sz="2200">
                <a:ln>
                  <a:noFill/>
                </a:ln>
                <a:uFillTx/>
                <a:sym typeface="+mn-ea"/>
              </a:rPr>
              <a:t>Environmental considerations are the history of transportation is inexorably tied to the environment. From steam vehicles that burned coal and wood to today’s gasoline hungry combustion engines, transportation takes a toll on the planet’s resources and atmosphere.</a:t>
            </a:r>
            <a:endParaRPr lang="en-US" sz="2200">
              <a:ln>
                <a:noFill/>
              </a:ln>
              <a:uFillTx/>
              <a:sym typeface="+mn-ea"/>
            </a:endParaRPr>
          </a:p>
          <a:p>
            <a:pPr lvl="0" algn="l">
              <a:buFont typeface="Wingdings" panose="05000000000000000000" charset="0"/>
            </a:pPr>
            <a:endParaRPr lang="en-IN" altLang="en-US" sz="2925">
              <a:ln w="12700" cmpd="sng">
                <a:noFill/>
                <a:prstDash val="solid"/>
              </a:ln>
              <a:uFillTx/>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90525" y="535940"/>
            <a:ext cx="11474450" cy="5577840"/>
          </a:xfrm>
        </p:spPr>
        <p:txBody>
          <a:bodyPr/>
          <a:p>
            <a:pPr>
              <a:buFont typeface="Wingdings" panose="05000000000000000000" charset="0"/>
              <a:buChar char="Ø"/>
            </a:pPr>
            <a:r>
              <a:rPr lang="en-US" sz="2400">
                <a:ln>
                  <a:noFill/>
                </a:ln>
                <a:solidFill>
                  <a:schemeClr val="tx1"/>
                </a:solidFill>
                <a:effectLst>
                  <a:outerShdw blurRad="38100" dist="19050" dir="2700000" algn="tl" rotWithShape="0">
                    <a:schemeClr val="dk1">
                      <a:alpha val="40000"/>
                    </a:schemeClr>
                  </a:outerShdw>
                </a:effectLst>
                <a:uFillTx/>
                <a:sym typeface="+mn-ea"/>
              </a:rPr>
              <a:t>Smart transportation can generally be divided into two sectors become “smart” when networked sensors are integrated into infrastructure and vehicles in an effort to accomplish the goals of remote management and control, safety, and efficiency.</a:t>
            </a:r>
            <a:endParaRPr lang="en-US" sz="2400">
              <a:ln>
                <a:noFill/>
              </a:ln>
              <a:solidFill>
                <a:schemeClr val="tx1"/>
              </a:solidFill>
              <a:effectLst>
                <a:outerShdw blurRad="38100" dist="19050" dir="2700000" algn="tl" rotWithShape="0">
                  <a:schemeClr val="dk1">
                    <a:alpha val="40000"/>
                  </a:schemeClr>
                </a:outerShdw>
              </a:effectLst>
              <a:uFillTx/>
            </a:endParaRPr>
          </a:p>
          <a:p>
            <a:pPr marL="0" indent="0">
              <a:buNone/>
            </a:pPr>
            <a:r>
              <a:rPr lang="en-US" sz="2400">
                <a:ln>
                  <a:noFill/>
                </a:ln>
                <a:solidFill>
                  <a:schemeClr val="tx1"/>
                </a:solidFill>
                <a:effectLst>
                  <a:outerShdw blurRad="38100" dist="19050" dir="2700000" algn="tl" rotWithShape="0">
                    <a:schemeClr val="dk1">
                      <a:alpha val="40000"/>
                    </a:schemeClr>
                  </a:outerShdw>
                </a:effectLst>
                <a:uFillTx/>
                <a:sym typeface="+mn-ea"/>
              </a:rPr>
              <a:t>   FOR EXAMPLE:</a:t>
            </a:r>
            <a:endParaRPr lang="en-US" sz="2400">
              <a:ln>
                <a:noFill/>
              </a:ln>
              <a:solidFill>
                <a:schemeClr val="tx1"/>
              </a:solidFill>
              <a:effectLst>
                <a:outerShdw blurRad="38100" dist="19050" dir="2700000" algn="tl" rotWithShape="0">
                  <a:schemeClr val="dk1">
                    <a:alpha val="40000"/>
                  </a:schemeClr>
                </a:outerShdw>
              </a:effectLst>
              <a:uFillTx/>
            </a:endParaRPr>
          </a:p>
          <a:p>
            <a:pPr lvl="1">
              <a:buFont typeface="Arial" panose="020B0604020202020204" pitchFamily="34" charset="0"/>
              <a:buChar char="•"/>
            </a:pPr>
            <a:r>
              <a:rPr lang="en-US">
                <a:ln>
                  <a:noFill/>
                </a:ln>
                <a:solidFill>
                  <a:schemeClr val="tx1"/>
                </a:solidFill>
                <a:effectLst>
                  <a:outerShdw blurRad="38100" dist="19050" dir="2700000" algn="tl" rotWithShape="0">
                    <a:schemeClr val="dk1">
                      <a:alpha val="40000"/>
                    </a:schemeClr>
                  </a:outerShdw>
                </a:effectLst>
                <a:uFillTx/>
                <a:sym typeface="+mn-ea"/>
              </a:rPr>
              <a:t>Pedestrians are trying to cross. The streetlights are regulating flow of traffic. Drivers in vehicles are busily trying to get to their destination.Both the drivers and the pedestrians are responsible for paying attention to the traffic signals. If any of these nodes fail, however, both efficiency and safety drop.In a smart intersection, however, this all changes. A vehicle may use a combination of bluetooth and LIDAR (Light Detection and Ranging) to detect pedestrians and can automatically begin breaking to avoid an accident. Streetlights can pick up the individual signals sent from vehicles to determine how many cars are waiting and in which direction far more accurately and efficiently than pressure plates and timers.</a:t>
            </a:r>
            <a:endParaRPr lang="en-US">
              <a:ln>
                <a:noFill/>
              </a:ln>
              <a:solidFill>
                <a:schemeClr val="tx1"/>
              </a:solidFill>
              <a:effectLst>
                <a:outerShdw blurRad="38100" dist="19050" dir="2700000" algn="tl" rotWithShape="0">
                  <a:schemeClr val="dk1">
                    <a:alpha val="40000"/>
                  </a:schemeClr>
                </a:outerShdw>
              </a:effectLst>
              <a:uFillTx/>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12750" y="344170"/>
            <a:ext cx="11441430" cy="6216015"/>
          </a:xfrm>
        </p:spPr>
        <p:txBody>
          <a:bodyPr/>
          <a:p>
            <a:pPr>
              <a:buFont typeface="Wingdings" panose="05000000000000000000" charset="0"/>
              <a:buChar char="Ø"/>
            </a:pPr>
            <a:r>
              <a:rPr lang="en-US" sz="2400" b="1">
                <a:ln>
                  <a:noFill/>
                </a:ln>
                <a:uFillTx/>
                <a:sym typeface="+mn-ea"/>
              </a:rPr>
              <a:t>SMART SENSING:</a:t>
            </a:r>
            <a:endParaRPr lang="en-US" sz="2400" b="1">
              <a:ln>
                <a:noFill/>
              </a:ln>
              <a:uFillTx/>
              <a:sym typeface="+mn-ea"/>
            </a:endParaRPr>
          </a:p>
          <a:p>
            <a:pPr>
              <a:buFont typeface="Arial" panose="020B0604020202020204" pitchFamily="34" charset="0"/>
              <a:buChar char="•"/>
            </a:pPr>
            <a:r>
              <a:rPr lang="en-US" sz="2400">
                <a:ln>
                  <a:noFill/>
                </a:ln>
                <a:uFillTx/>
                <a:sym typeface="+mn-ea"/>
              </a:rPr>
              <a:t>In transportation, sensor technology supports the design and development of a wide range of applications for traffic control, safety, and entertainment. </a:t>
            </a:r>
            <a:endParaRPr lang="en-US" sz="2400">
              <a:ln>
                <a:noFill/>
              </a:ln>
              <a:solidFill>
                <a:schemeClr val="tx1"/>
              </a:solidFill>
              <a:uFillTx/>
            </a:endParaRPr>
          </a:p>
          <a:p>
            <a:r>
              <a:rPr lang="en-US" sz="2400">
                <a:ln>
                  <a:noFill/>
                </a:ln>
                <a:uFillTx/>
                <a:sym typeface="+mn-ea"/>
              </a:rPr>
              <a:t>Monitor the traffic conditions in specific zones, gathering data that improves the traffic management. For example cameras, radars, ultrasonic, proximity.</a:t>
            </a:r>
            <a:endParaRPr lang="en-US" sz="2400">
              <a:ln>
                <a:noFill/>
              </a:ln>
              <a:uFillTx/>
              <a:sym typeface="+mn-ea"/>
            </a:endParaRPr>
          </a:p>
          <a:p>
            <a:pPr>
              <a:buFont typeface="Wingdings" panose="05000000000000000000" charset="0"/>
              <a:buChar char="Ø"/>
            </a:pPr>
            <a:r>
              <a:rPr lang="en-IN" altLang="en-US" sz="2400" b="1">
                <a:ln>
                  <a:noFill/>
                </a:ln>
                <a:solidFill>
                  <a:schemeClr val="tx1"/>
                </a:solidFill>
                <a:uFillTx/>
                <a:sym typeface="+mn-ea"/>
              </a:rPr>
              <a:t>I</a:t>
            </a:r>
            <a:r>
              <a:rPr lang="en-US" sz="2400" b="1">
                <a:ln>
                  <a:noFill/>
                </a:ln>
                <a:solidFill>
                  <a:schemeClr val="tx1"/>
                </a:solidFill>
                <a:uFillTx/>
                <a:sym typeface="+mn-ea"/>
              </a:rPr>
              <a:t>ntelligent </a:t>
            </a:r>
            <a:r>
              <a:rPr lang="en-IN" altLang="en-US" sz="2400" b="1">
                <a:ln>
                  <a:noFill/>
                </a:ln>
                <a:solidFill>
                  <a:schemeClr val="tx1"/>
                </a:solidFill>
                <a:uFillTx/>
                <a:sym typeface="+mn-ea"/>
              </a:rPr>
              <a:t>T</a:t>
            </a:r>
            <a:r>
              <a:rPr lang="en-US" sz="2400" b="1">
                <a:ln>
                  <a:noFill/>
                </a:ln>
                <a:solidFill>
                  <a:schemeClr val="tx1"/>
                </a:solidFill>
                <a:uFillTx/>
                <a:sym typeface="+mn-ea"/>
              </a:rPr>
              <a:t>raffic </a:t>
            </a:r>
            <a:r>
              <a:rPr lang="en-IN" altLang="en-US" sz="2400" b="1">
                <a:ln>
                  <a:noFill/>
                </a:ln>
                <a:solidFill>
                  <a:schemeClr val="tx1"/>
                </a:solidFill>
                <a:uFillTx/>
                <a:sym typeface="+mn-ea"/>
              </a:rPr>
              <a:t>M</a:t>
            </a:r>
            <a:r>
              <a:rPr lang="en-US" sz="2400" b="1">
                <a:ln>
                  <a:noFill/>
                </a:ln>
                <a:solidFill>
                  <a:schemeClr val="tx1"/>
                </a:solidFill>
                <a:uFillTx/>
                <a:sym typeface="+mn-ea"/>
              </a:rPr>
              <a:t>anagement</a:t>
            </a:r>
            <a:r>
              <a:rPr lang="en-IN" altLang="en-US" sz="2400" b="1">
                <a:ln>
                  <a:noFill/>
                </a:ln>
                <a:solidFill>
                  <a:schemeClr val="tx1"/>
                </a:solidFill>
                <a:uFillTx/>
                <a:sym typeface="+mn-ea"/>
              </a:rPr>
              <a:t>:-</a:t>
            </a:r>
            <a:endParaRPr lang="en-IN" altLang="en-US" sz="2400" b="1">
              <a:ln>
                <a:noFill/>
              </a:ln>
              <a:solidFill>
                <a:schemeClr val="tx1"/>
              </a:solidFill>
              <a:uFillTx/>
            </a:endParaRPr>
          </a:p>
          <a:p>
            <a:pPr>
              <a:buFont typeface="Arial" panose="020B0604020202020204" pitchFamily="34" charset="0"/>
              <a:buChar char="•"/>
            </a:pPr>
            <a:r>
              <a:rPr lang="en-US" sz="2400">
                <a:ln>
                  <a:noFill/>
                </a:ln>
                <a:uFillTx/>
                <a:sym typeface="+mn-ea"/>
              </a:rPr>
              <a:t>Intelligent Traffic Management System (ITMS), is one of the advanced solution to the congested traffic conditions face by many cities.</a:t>
            </a:r>
            <a:r>
              <a:rPr lang="en-IN" altLang="en-US" sz="2400">
                <a:ln>
                  <a:noFill/>
                </a:ln>
                <a:uFillTx/>
                <a:sym typeface="+mn-ea"/>
              </a:rPr>
              <a:t> </a:t>
            </a:r>
            <a:r>
              <a:rPr lang="en-US" sz="2400">
                <a:ln>
                  <a:noFill/>
                </a:ln>
                <a:uFillTx/>
                <a:sym typeface="+mn-ea"/>
              </a:rPr>
              <a:t>As a result of rapid industrialization and urbanization, many cities are facing increased volume of population which resulted in an unplanned city infrastructure.Unplanned infrastructures includes Road &amp; Junctions, Sewerage Networks, and Utility Ducts etc.</a:t>
            </a:r>
            <a:endParaRPr lang="en-US" sz="2400">
              <a:ln>
                <a:noFill/>
              </a:ln>
              <a:solidFill>
                <a:schemeClr val="tx1"/>
              </a:solidFill>
              <a:uFillTx/>
            </a:endParaRPr>
          </a:p>
          <a:p>
            <a:pPr>
              <a:buFont typeface="Arial" panose="020B0604020202020204" pitchFamily="34" charset="0"/>
              <a:buChar char="•"/>
            </a:pPr>
            <a:r>
              <a:rPr lang="en-US" sz="2400">
                <a:ln>
                  <a:noFill/>
                </a:ln>
                <a:uFillTx/>
                <a:sym typeface="+mn-ea"/>
              </a:rPr>
              <a:t>Increased population will be requiring Multi-mode Transport System for seamless daily commute.</a:t>
            </a:r>
            <a:endParaRPr lang="en-US" sz="2400">
              <a:ln>
                <a:noFill/>
              </a:ln>
              <a:solidFill>
                <a:schemeClr val="tx1"/>
              </a:solidFill>
              <a:uFillTx/>
            </a:endParaRPr>
          </a:p>
          <a:p>
            <a:pPr>
              <a:buFont typeface="Arial" panose="020B0604020202020204" pitchFamily="34" charset="0"/>
              <a:buChar char="•"/>
            </a:pPr>
            <a:endParaRPr lang="en-US" sz="2400">
              <a:ln>
                <a:noFill/>
              </a:ln>
              <a:solidFill>
                <a:schemeClr val="tx1"/>
              </a:solidFill>
              <a:uFillTx/>
            </a:endParaRPr>
          </a:p>
          <a:p>
            <a:pPr marL="0" indent="0">
              <a:buFont typeface="Wingdings" panose="05000000000000000000" charset="0"/>
              <a:buNone/>
            </a:pPr>
            <a:endParaRPr lang="en-US" sz="2400">
              <a:ln>
                <a:noFill/>
              </a:ln>
              <a:solidFill>
                <a:schemeClr val="tx1"/>
              </a:solidFill>
              <a:uFillTx/>
            </a:endParaRPr>
          </a:p>
          <a:p>
            <a:pPr>
              <a:buFont typeface="Wingdings" panose="05000000000000000000" charset="0"/>
              <a:buChar char="Ø"/>
            </a:pPr>
            <a:endParaRPr lang="en-US" sz="2400">
              <a:ln>
                <a:noFill/>
              </a:ln>
              <a:solidFill>
                <a:schemeClr val="tx1"/>
              </a:solidFill>
              <a:uFill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6070" y="366395"/>
            <a:ext cx="11569700" cy="6141085"/>
          </a:xfrm>
        </p:spPr>
        <p:txBody>
          <a:bodyPr>
            <a:normAutofit lnSpcReduction="10000"/>
          </a:bodyPr>
          <a:p>
            <a:pPr>
              <a:buFont typeface="Wingdings" panose="05000000000000000000" charset="0"/>
              <a:buChar char="Ø"/>
            </a:pPr>
            <a:r>
              <a:rPr lang="en-IN" altLang="en-US" b="1">
                <a:ln>
                  <a:noFill/>
                </a:ln>
                <a:solidFill>
                  <a:schemeClr val="tx1"/>
                </a:solidFill>
                <a:sym typeface="+mn-ea"/>
              </a:rPr>
              <a:t> </a:t>
            </a:r>
            <a:r>
              <a:rPr lang="en-IN" altLang="en-US" sz="2400" b="1">
                <a:ln>
                  <a:noFill/>
                </a:ln>
                <a:solidFill>
                  <a:schemeClr val="tx1"/>
                </a:solidFill>
                <a:sym typeface="+mn-ea"/>
              </a:rPr>
              <a:t>CONNECTED VEHICLES:-</a:t>
            </a:r>
            <a:endParaRPr lang="en-IN" altLang="en-US" sz="2400" b="1">
              <a:ln>
                <a:noFill/>
              </a:ln>
              <a:solidFill>
                <a:schemeClr val="tx1"/>
              </a:solidFill>
            </a:endParaRPr>
          </a:p>
          <a:p>
            <a:pPr>
              <a:buFont typeface="Arial" panose="020B0604020202020204" pitchFamily="34" charset="0"/>
              <a:buChar char="•"/>
            </a:pPr>
            <a:r>
              <a:rPr lang="en-IN" altLang="en-US" sz="2400">
                <a:ln>
                  <a:noFill/>
                </a:ln>
                <a:solidFill>
                  <a:schemeClr val="tx1"/>
                </a:solidFill>
                <a:uFillTx/>
                <a:sym typeface="+mn-ea"/>
              </a:rPr>
              <a:t>A c</a:t>
            </a:r>
            <a:r>
              <a:rPr lang="en-US" sz="2400">
                <a:ln>
                  <a:noFill/>
                </a:ln>
                <a:solidFill>
                  <a:schemeClr val="tx1"/>
                </a:solidFill>
                <a:uFillTx/>
                <a:sym typeface="+mn-ea"/>
              </a:rPr>
              <a:t>onnected vehicle is one that is capable of connecting over wireless networks to nearby devices. Connected vehicles are an important factor in the advance of IoT. The use cases range from connected entertainment systems that connect with the driver’s mobile phone to Internet-connected vehicles that have bi-directional communication with other vehicles, mobile devices and city intersections.</a:t>
            </a:r>
            <a:endParaRPr lang="en-US" sz="2400">
              <a:ln>
                <a:noFill/>
              </a:ln>
              <a:solidFill>
                <a:schemeClr val="tx1"/>
              </a:solidFill>
              <a:uFillTx/>
            </a:endParaRPr>
          </a:p>
          <a:p>
            <a:pPr>
              <a:buFont typeface="Wingdings" panose="05000000000000000000" charset="0"/>
              <a:buChar char="Ø"/>
            </a:pPr>
            <a:r>
              <a:rPr lang="en-IN" altLang="en-US" sz="2400" b="1">
                <a:ln>
                  <a:noFill/>
                </a:ln>
                <a:solidFill>
                  <a:schemeClr val="tx1"/>
                </a:solidFill>
                <a:uFillTx/>
                <a:sym typeface="+mn-ea"/>
              </a:rPr>
              <a:t>SUBTAINABLE MOBILITY:-</a:t>
            </a:r>
            <a:endParaRPr lang="en-IN" altLang="en-US" sz="2400" b="1">
              <a:ln>
                <a:noFill/>
              </a:ln>
              <a:solidFill>
                <a:schemeClr val="tx1"/>
              </a:solidFill>
              <a:uFillTx/>
            </a:endParaRPr>
          </a:p>
          <a:p>
            <a:pPr>
              <a:buFont typeface="Arial" panose="020B0604020202020204" pitchFamily="34" charset="0"/>
              <a:buChar char="•"/>
            </a:pPr>
            <a:r>
              <a:rPr lang="en-US" sz="2400">
                <a:ln>
                  <a:noFill/>
                </a:ln>
                <a:solidFill>
                  <a:schemeClr val="tx1"/>
                </a:solidFill>
                <a:sym typeface="+mn-ea"/>
              </a:rPr>
              <a:t>Sustainable mobility is another trend in the smart transportation market, with a growing focus on reducing emissions and promoting alternative modes of transportation such as electric vehicles, bike-sharing programs, and public transportation.</a:t>
            </a:r>
            <a:endParaRPr lang="en-US" sz="2400">
              <a:ln>
                <a:noFill/>
              </a:ln>
              <a:solidFill>
                <a:schemeClr val="tx1"/>
              </a:solidFill>
            </a:endParaRPr>
          </a:p>
          <a:p>
            <a:pPr marL="0" indent="0">
              <a:buFont typeface="Arial" panose="020B0604020202020204" pitchFamily="34" charset="0"/>
              <a:buNone/>
            </a:pPr>
            <a:endParaRPr lang="en-US" altLang="en-US" sz="2400" b="1">
              <a:ln>
                <a:noFill/>
              </a:ln>
              <a:solidFill>
                <a:schemeClr val="tx1"/>
              </a:solidFill>
              <a:uFill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9740" y="181610"/>
            <a:ext cx="11304270" cy="6383655"/>
          </a:xfrm>
        </p:spPr>
        <p:txBody>
          <a:bodyPr>
            <a:noAutofit/>
          </a:bodyPr>
          <a:p>
            <a:pPr marL="0" indent="0">
              <a:buNone/>
            </a:pPr>
            <a:r>
              <a:rPr lang="en-IN" sz="2300" b="1" dirty="0">
                <a:ln>
                  <a:noFill/>
                </a:ln>
                <a:solidFill>
                  <a:schemeClr val="tx1"/>
                </a:solidFill>
                <a:sym typeface="+mn-ea"/>
              </a:rPr>
              <a:t>INNOVATION:-</a:t>
            </a:r>
            <a:endParaRPr lang="en-IN" sz="2300" b="1" dirty="0">
              <a:ln>
                <a:noFill/>
              </a:ln>
              <a:solidFill>
                <a:schemeClr val="tx1"/>
              </a:solidFill>
              <a:sym typeface="+mn-ea"/>
            </a:endParaRPr>
          </a:p>
          <a:p>
            <a:pPr>
              <a:buFont typeface="Wingdings" panose="05000000000000000000" charset="0"/>
              <a:buChar char="Ø"/>
            </a:pPr>
            <a:r>
              <a:rPr lang="en-US" sz="2300" dirty="0">
                <a:ln>
                  <a:noFill/>
                </a:ln>
                <a:solidFill>
                  <a:schemeClr val="tx1"/>
                </a:solidFill>
                <a:effectLst/>
                <a:cs typeface="+mn-lt"/>
                <a:sym typeface="+mn-ea"/>
              </a:rPr>
              <a:t>Smart public transportation optimization involves the use of various technologies and systems to enhance the efficiency, safety, and accessibility of public transit services. Here are details on the components and technologies commonly used in smart public transportation optimization</a:t>
            </a:r>
            <a:r>
              <a:rPr lang="en-IN" altLang="en-US" sz="2300" dirty="0">
                <a:ln>
                  <a:noFill/>
                </a:ln>
                <a:solidFill>
                  <a:schemeClr val="tx1"/>
                </a:solidFill>
                <a:effectLst/>
                <a:cs typeface="+mn-lt"/>
                <a:sym typeface="+mn-ea"/>
              </a:rPr>
              <a:t>.</a:t>
            </a:r>
            <a:endParaRPr lang="en-IN" sz="2300" dirty="0">
              <a:ln>
                <a:noFill/>
              </a:ln>
              <a:solidFill>
                <a:schemeClr val="tx1"/>
              </a:solidFill>
              <a:cs typeface="+mn-lt"/>
            </a:endParaRPr>
          </a:p>
          <a:p>
            <a:pPr>
              <a:buFont typeface="Wingdings" panose="05000000000000000000" charset="0"/>
              <a:buChar char="Ø"/>
            </a:pPr>
            <a:r>
              <a:rPr lang="en-IN" altLang="en-US" sz="2300" dirty="0">
                <a:solidFill>
                  <a:schemeClr val="tx1"/>
                </a:solidFill>
                <a:sym typeface="+mn-ea"/>
              </a:rPr>
              <a:t>A</a:t>
            </a:r>
            <a:r>
              <a:rPr lang="en-US" sz="2300" dirty="0">
                <a:solidFill>
                  <a:schemeClr val="tx1"/>
                </a:solidFill>
                <a:sym typeface="+mn-ea"/>
              </a:rPr>
              <a:t>fter thorough research, we came up with an innovative idea to solve the</a:t>
            </a:r>
            <a:endParaRPr lang="en-US" sz="2300" dirty="0">
              <a:solidFill>
                <a:schemeClr val="tx1"/>
              </a:solidFill>
            </a:endParaRPr>
          </a:p>
          <a:p>
            <a:pPr marL="0" indent="0">
              <a:buNone/>
            </a:pPr>
            <a:r>
              <a:rPr lang="en-US" sz="2300" dirty="0">
                <a:solidFill>
                  <a:schemeClr val="tx1"/>
                </a:solidFill>
                <a:sym typeface="+mn-ea"/>
              </a:rPr>
              <a:t>   problems that we have mentioned in phase 1 of our project.</a:t>
            </a:r>
            <a:endParaRPr lang="en-US" sz="2300" dirty="0">
              <a:solidFill>
                <a:schemeClr val="tx1"/>
              </a:solidFill>
            </a:endParaRPr>
          </a:p>
          <a:p>
            <a:pPr>
              <a:buFont typeface="Wingdings" panose="05000000000000000000" charset="0"/>
              <a:buChar char="Ø"/>
            </a:pPr>
            <a:r>
              <a:rPr lang="en-US" sz="2300" dirty="0">
                <a:solidFill>
                  <a:schemeClr val="tx1"/>
                </a:solidFill>
                <a:sym typeface="+mn-ea"/>
              </a:rPr>
              <a:t>Sensor</a:t>
            </a:r>
            <a:endParaRPr lang="en-US" sz="2300" dirty="0">
              <a:solidFill>
                <a:schemeClr val="tx1"/>
              </a:solidFill>
            </a:endParaRPr>
          </a:p>
          <a:p>
            <a:pPr lvl="1">
              <a:buFont typeface="Arial" panose="020B0604020202020204" pitchFamily="34" charset="0"/>
              <a:buChar char="•"/>
            </a:pPr>
            <a:r>
              <a:rPr lang="en-US" sz="2300" dirty="0">
                <a:solidFill>
                  <a:schemeClr val="tx1"/>
                </a:solidFill>
                <a:sym typeface="+mn-ea"/>
              </a:rPr>
              <a:t>Cameras, Lidar, Radar, Ultrasonic sensors</a:t>
            </a:r>
            <a:endParaRPr lang="en-US" sz="2300" dirty="0">
              <a:solidFill>
                <a:schemeClr val="tx1"/>
              </a:solidFill>
            </a:endParaRPr>
          </a:p>
          <a:p>
            <a:pPr lvl="1">
              <a:buFont typeface="Arial" panose="020B0604020202020204" pitchFamily="34" charset="0"/>
              <a:buChar char="•"/>
            </a:pPr>
            <a:r>
              <a:rPr lang="en-US" sz="2300" dirty="0">
                <a:solidFill>
                  <a:schemeClr val="tx1"/>
                </a:solidFill>
                <a:sym typeface="+mn-ea"/>
              </a:rPr>
              <a:t>GPS, Patient Monitoring Devices,  Collision Detection Sensors</a:t>
            </a:r>
            <a:endParaRPr lang="en-US" sz="2300" dirty="0">
              <a:solidFill>
                <a:schemeClr val="tx1"/>
              </a:solidFill>
            </a:endParaRPr>
          </a:p>
          <a:p>
            <a:pPr lvl="1">
              <a:buFont typeface="Arial" panose="020B0604020202020204" pitchFamily="34" charset="0"/>
              <a:buChar char="•"/>
            </a:pPr>
            <a:r>
              <a:rPr lang="en-US" sz="2300" dirty="0">
                <a:solidFill>
                  <a:schemeClr val="tx1"/>
                </a:solidFill>
                <a:sym typeface="+mn-ea"/>
              </a:rPr>
              <a:t>Axle Counters, Train Health Monitoring Sensors, Speed Sensors</a:t>
            </a:r>
            <a:endParaRPr lang="en-US" sz="2300" dirty="0">
              <a:solidFill>
                <a:schemeClr val="tx1"/>
              </a:solidFill>
            </a:endParaRPr>
          </a:p>
          <a:p>
            <a:pPr lvl="1"/>
            <a:r>
              <a:rPr lang="en-US" sz="2300" dirty="0">
                <a:solidFill>
                  <a:schemeClr val="tx1"/>
                </a:solidFill>
                <a:sym typeface="+mn-ea"/>
              </a:rPr>
              <a:t>Passenger Counting Sensors, Environmental Sensors, Door Sensors</a:t>
            </a:r>
            <a:endParaRPr lang="en-US" sz="2300" dirty="0">
              <a:solidFill>
                <a:schemeClr val="tx1"/>
              </a:solidFill>
            </a:endParaRPr>
          </a:p>
          <a:p>
            <a:pPr>
              <a:buFont typeface="Wingdings" panose="05000000000000000000" charset="0"/>
              <a:buChar char="Ø"/>
            </a:pPr>
            <a:r>
              <a:rPr lang="en-US" sz="2300" dirty="0">
                <a:solidFill>
                  <a:schemeClr val="tx1"/>
                </a:solidFill>
                <a:sym typeface="+mn-ea"/>
              </a:rPr>
              <a:t>Connectivity</a:t>
            </a:r>
            <a:endParaRPr lang="en-US" sz="2300" dirty="0">
              <a:solidFill>
                <a:schemeClr val="tx1"/>
              </a:solidFill>
            </a:endParaRPr>
          </a:p>
          <a:p>
            <a:pPr lvl="1"/>
            <a:r>
              <a:rPr lang="en-US" sz="2300" dirty="0">
                <a:solidFill>
                  <a:schemeClr val="tx1"/>
                </a:solidFill>
                <a:sym typeface="+mn-ea"/>
              </a:rPr>
              <a:t>DSRC</a:t>
            </a:r>
            <a:endParaRPr lang="en-US" sz="2300" dirty="0">
              <a:solidFill>
                <a:schemeClr val="tx1"/>
              </a:solidFill>
            </a:endParaRPr>
          </a:p>
          <a:p>
            <a:pPr lvl="1"/>
            <a:r>
              <a:rPr lang="en-US" sz="2300" dirty="0">
                <a:solidFill>
                  <a:schemeClr val="tx1"/>
                </a:solidFill>
                <a:sym typeface="+mn-ea"/>
              </a:rPr>
              <a:t>MDTs, ESN, Satellite Communication</a:t>
            </a:r>
            <a:endParaRPr lang="en-US" sz="2300" dirty="0">
              <a:solidFill>
                <a:schemeClr val="tx1"/>
              </a:solidFill>
            </a:endParaRPr>
          </a:p>
          <a:p>
            <a:pPr lvl="1"/>
            <a:r>
              <a:rPr lang="en-US" sz="2300" dirty="0">
                <a:solidFill>
                  <a:schemeClr val="tx1"/>
                </a:solidFill>
                <a:sym typeface="+mn-ea"/>
              </a:rPr>
              <a:t>Trackside Communication</a:t>
            </a:r>
            <a:endParaRPr lang="en-US" sz="2300" dirty="0">
              <a:solidFill>
                <a:schemeClr val="tx1"/>
              </a:solidFill>
            </a:endParaRPr>
          </a:p>
          <a:p>
            <a:pPr lvl="1"/>
            <a:r>
              <a:rPr lang="en-US" sz="2300" dirty="0">
                <a:solidFill>
                  <a:schemeClr val="tx1"/>
                </a:solidFill>
                <a:sym typeface="+mn-ea"/>
              </a:rPr>
              <a:t> Wireless Communication Networks</a:t>
            </a:r>
            <a:endParaRPr lang="en-US" sz="2300" dirty="0">
              <a:solidFill>
                <a:schemeClr val="tx1"/>
              </a:solidFill>
              <a:sym typeface="+mn-ea"/>
            </a:endParaRPr>
          </a:p>
          <a:p>
            <a:pPr marL="0" indent="0">
              <a:buNone/>
            </a:pPr>
            <a:endParaRPr lang="en-US" sz="2000" b="1" dirty="0">
              <a:ln>
                <a:noFill/>
              </a:ln>
              <a:solidFill>
                <a:schemeClr val="tx1"/>
              </a:solidFill>
              <a:cs typeface="+mn-lt"/>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27990" y="332740"/>
            <a:ext cx="11379200" cy="6103620"/>
          </a:xfrm>
        </p:spPr>
        <p:txBody>
          <a:bodyPr/>
          <a:p>
            <a:pPr lvl="0">
              <a:buFont typeface="Wingdings" panose="05000000000000000000" charset="0"/>
              <a:buChar char="Ø"/>
            </a:pPr>
            <a:r>
              <a:rPr lang="en-IN" sz="2400" dirty="0">
                <a:ln>
                  <a:noFill/>
                </a:ln>
                <a:solidFill>
                  <a:schemeClr val="tx1"/>
                </a:solidFill>
                <a:sym typeface="+mn-ea"/>
              </a:rPr>
              <a:t>Cloud</a:t>
            </a:r>
            <a:endParaRPr lang="en-IN" sz="2400" dirty="0">
              <a:ln>
                <a:noFill/>
              </a:ln>
              <a:solidFill>
                <a:schemeClr val="tx1"/>
              </a:solidFill>
            </a:endParaRPr>
          </a:p>
          <a:p>
            <a:pPr lvl="1">
              <a:buFont typeface="Arial" panose="020B0604020202020204" pitchFamily="34" charset="0"/>
              <a:buChar char="•"/>
            </a:pPr>
            <a:r>
              <a:rPr lang="en-IN" sz="2400" dirty="0">
                <a:solidFill>
                  <a:schemeClr val="tx1"/>
                </a:solidFill>
                <a:sym typeface="+mn-ea"/>
              </a:rPr>
              <a:t>Alert Generation, Data Sharing</a:t>
            </a:r>
            <a:endParaRPr lang="en-IN" sz="2400" dirty="0">
              <a:solidFill>
                <a:schemeClr val="tx1"/>
              </a:solidFill>
            </a:endParaRPr>
          </a:p>
          <a:p>
            <a:pPr lvl="1"/>
            <a:r>
              <a:rPr lang="en-IN" sz="2400" dirty="0">
                <a:solidFill>
                  <a:schemeClr val="tx1"/>
                </a:solidFill>
                <a:sym typeface="+mn-ea"/>
              </a:rPr>
              <a:t>Data Analytics and Reporting</a:t>
            </a:r>
            <a:endParaRPr lang="en-IN" sz="2400" dirty="0">
              <a:solidFill>
                <a:schemeClr val="tx1"/>
              </a:solidFill>
            </a:endParaRPr>
          </a:p>
          <a:p>
            <a:pPr>
              <a:buFont typeface="Wingdings" panose="05000000000000000000" charset="0"/>
              <a:buChar char="Ø"/>
            </a:pPr>
            <a:r>
              <a:rPr lang="en-IN" sz="2400" dirty="0">
                <a:solidFill>
                  <a:schemeClr val="tx1"/>
                </a:solidFill>
                <a:sym typeface="+mn-ea"/>
              </a:rPr>
              <a:t>Protocol</a:t>
            </a:r>
            <a:endParaRPr lang="en-IN" sz="2400" dirty="0">
              <a:solidFill>
                <a:schemeClr val="tx1"/>
              </a:solidFill>
            </a:endParaRPr>
          </a:p>
          <a:p>
            <a:pPr lvl="1"/>
            <a:r>
              <a:rPr lang="en-IN" sz="2400" dirty="0">
                <a:solidFill>
                  <a:schemeClr val="tx1"/>
                </a:solidFill>
                <a:sym typeface="+mn-ea"/>
              </a:rPr>
              <a:t>IEEE 802.11p</a:t>
            </a:r>
            <a:endParaRPr lang="en-IN" sz="2400" dirty="0">
              <a:solidFill>
                <a:schemeClr val="tx1"/>
              </a:solidFill>
            </a:endParaRPr>
          </a:p>
          <a:p>
            <a:pPr lvl="1"/>
            <a:r>
              <a:rPr lang="en-IN" sz="2400" dirty="0">
                <a:solidFill>
                  <a:schemeClr val="tx1"/>
                </a:solidFill>
                <a:sym typeface="+mn-ea"/>
              </a:rPr>
              <a:t>EMS, Communication Protocols</a:t>
            </a:r>
            <a:endParaRPr lang="en-IN" sz="2400" dirty="0">
              <a:solidFill>
                <a:schemeClr val="tx1"/>
              </a:solidFill>
            </a:endParaRPr>
          </a:p>
          <a:p>
            <a:pPr lvl="1"/>
            <a:r>
              <a:rPr lang="en-IN" sz="2400" dirty="0">
                <a:solidFill>
                  <a:schemeClr val="tx1"/>
                </a:solidFill>
                <a:sym typeface="+mn-ea"/>
              </a:rPr>
              <a:t>Train control Protocols</a:t>
            </a:r>
            <a:endParaRPr lang="en-IN" sz="2400" dirty="0">
              <a:solidFill>
                <a:schemeClr val="tx1"/>
              </a:solidFill>
            </a:endParaRPr>
          </a:p>
          <a:p>
            <a:pPr lvl="1">
              <a:buFont typeface="Arial" panose="020B0604020202020204" pitchFamily="34" charset="0"/>
              <a:buChar char="•"/>
            </a:pPr>
            <a:r>
              <a:rPr lang="en-IN" sz="2400" dirty="0">
                <a:solidFill>
                  <a:schemeClr val="tx1"/>
                </a:solidFill>
                <a:sym typeface="+mn-ea"/>
              </a:rPr>
              <a:t>ITS</a:t>
            </a:r>
            <a:endParaRPr lang="en-IN" sz="2400" dirty="0">
              <a:solidFill>
                <a:schemeClr val="tx1"/>
              </a:solidFill>
              <a:sym typeface="+mn-ea"/>
            </a:endParaRPr>
          </a:p>
          <a:p>
            <a:pPr lvl="0">
              <a:buFont typeface="Wingdings" panose="05000000000000000000" charset="0"/>
              <a:buChar char="Ø"/>
            </a:pPr>
            <a:r>
              <a:rPr lang="en-IN" sz="2400" dirty="0">
                <a:solidFill>
                  <a:schemeClr val="tx1"/>
                </a:solidFill>
                <a:sym typeface="+mn-ea"/>
              </a:rPr>
              <a:t>Public Platform</a:t>
            </a:r>
            <a:endParaRPr lang="en-IN" sz="2400" dirty="0">
              <a:solidFill>
                <a:schemeClr val="tx1"/>
              </a:solidFill>
            </a:endParaRPr>
          </a:p>
          <a:p>
            <a:pPr lvl="1">
              <a:buFont typeface="Arial" panose="020B0604020202020204" pitchFamily="34" charset="0"/>
              <a:buChar char="•"/>
            </a:pPr>
            <a:r>
              <a:rPr lang="en-IN" sz="2400" dirty="0">
                <a:solidFill>
                  <a:schemeClr val="tx1"/>
                </a:solidFill>
                <a:sym typeface="+mn-ea"/>
              </a:rPr>
              <a:t>Smart City Initiatives, TMA, </a:t>
            </a:r>
            <a:endParaRPr lang="en-IN" sz="2400" dirty="0">
              <a:solidFill>
                <a:schemeClr val="tx1"/>
              </a:solidFill>
            </a:endParaRPr>
          </a:p>
          <a:p>
            <a:pPr lvl="1"/>
            <a:r>
              <a:rPr lang="en-IN" sz="2400" dirty="0">
                <a:solidFill>
                  <a:schemeClr val="tx1"/>
                </a:solidFill>
                <a:sym typeface="+mn-ea"/>
              </a:rPr>
              <a:t>Public Alert Systems, IHS</a:t>
            </a:r>
            <a:endParaRPr lang="en-IN" sz="2400" dirty="0">
              <a:solidFill>
                <a:schemeClr val="tx1"/>
              </a:solidFill>
            </a:endParaRPr>
          </a:p>
          <a:p>
            <a:pPr lvl="1"/>
            <a:r>
              <a:rPr lang="en-IN" sz="2400" dirty="0">
                <a:solidFill>
                  <a:schemeClr val="tx1"/>
                </a:solidFill>
                <a:sym typeface="+mn-ea"/>
              </a:rPr>
              <a:t>Passenger Information Systems</a:t>
            </a:r>
            <a:endParaRPr lang="en-IN" sz="2400" dirty="0">
              <a:solidFill>
                <a:schemeClr val="tx1"/>
              </a:solidFill>
            </a:endParaRPr>
          </a:p>
          <a:p>
            <a:pPr lvl="1"/>
            <a:r>
              <a:rPr lang="en-IN" sz="2400" dirty="0">
                <a:solidFill>
                  <a:schemeClr val="tx1"/>
                </a:solidFill>
                <a:sym typeface="+mn-ea"/>
              </a:rPr>
              <a:t>Transit Apps</a:t>
            </a:r>
            <a:endParaRPr lang="en-IN" sz="2400" dirty="0">
              <a:solidFill>
                <a:schemeClr val="tx1"/>
              </a:solidFill>
              <a:sym typeface="+mn-ea"/>
            </a:endParaRPr>
          </a:p>
          <a:p>
            <a:pPr marL="0" indent="0">
              <a:buFont typeface="Arial" panose="020B0604020202020204" pitchFamily="34" charset="0"/>
              <a:buNone/>
            </a:pPr>
            <a:endParaRPr lang="en-IN" sz="2400" dirty="0">
              <a:solidFill>
                <a:schemeClr val="tx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38785" y="386080"/>
            <a:ext cx="11271250" cy="6190615"/>
          </a:xfrm>
        </p:spPr>
        <p:txBody>
          <a:bodyPr>
            <a:normAutofit lnSpcReduction="20000"/>
          </a:bodyPr>
          <a:p>
            <a:pPr>
              <a:buFont typeface="Wingdings" panose="05000000000000000000" charset="0"/>
              <a:buChar char="Ø"/>
            </a:pPr>
            <a:r>
              <a:rPr lang="en-IN" sz="2400" b="1" dirty="0">
                <a:ln>
                  <a:noFill/>
                </a:ln>
                <a:solidFill>
                  <a:schemeClr val="tx1"/>
                </a:solidFill>
                <a:sym typeface="+mn-ea"/>
              </a:rPr>
              <a:t>SENSORS:</a:t>
            </a:r>
            <a:endParaRPr lang="en-IN" sz="2400" b="1" dirty="0">
              <a:ln>
                <a:noFill/>
              </a:ln>
              <a:solidFill>
                <a:schemeClr val="tx1"/>
              </a:solidFill>
              <a:sym typeface="+mn-ea"/>
            </a:endParaRPr>
          </a:p>
          <a:p>
            <a:pPr marL="800100" lvl="1" indent="-342900">
              <a:buFont typeface="Arial" panose="020B0604020202020204" pitchFamily="34" charset="0"/>
              <a:buChar char="•"/>
            </a:pPr>
            <a:r>
              <a:rPr lang="en-US" sz="2400" dirty="0">
                <a:ln>
                  <a:noFill/>
                </a:ln>
                <a:solidFill>
                  <a:schemeClr val="tx1"/>
                </a:solidFill>
                <a:sym typeface="+mn-ea"/>
              </a:rPr>
              <a:t>Cameras: Vehicles are often equipped with cameras that can capture images and videos of the surroundings. These cameras can be used for pedestrian detection and recognition.</a:t>
            </a:r>
            <a:endParaRPr lang="en-US" sz="2400" dirty="0">
              <a:ln>
                <a:noFill/>
              </a:ln>
              <a:solidFill>
                <a:schemeClr val="tx1"/>
              </a:solidFill>
            </a:endParaRPr>
          </a:p>
          <a:p>
            <a:pPr marL="800100" lvl="1" indent="-342900">
              <a:buFont typeface="Arial" panose="020B0604020202020204" pitchFamily="34" charset="0"/>
              <a:buChar char="•"/>
            </a:pPr>
            <a:r>
              <a:rPr lang="en-US" sz="2400" dirty="0">
                <a:ln>
                  <a:noFill/>
                </a:ln>
                <a:solidFill>
                  <a:schemeClr val="tx1"/>
                </a:solidFill>
                <a:sym typeface="+mn-ea"/>
              </a:rPr>
              <a:t>Lidar (Light Detection and Ranging): Lidar sensors use laser beams to create detailed 3D maps of the environment around the vehicle. They can accurately detect pedestrians and their movements.</a:t>
            </a:r>
            <a:endParaRPr lang="en-US" sz="2400" dirty="0">
              <a:ln>
                <a:noFill/>
              </a:ln>
              <a:solidFill>
                <a:schemeClr val="tx1"/>
              </a:solidFill>
            </a:endParaRPr>
          </a:p>
          <a:p>
            <a:pPr marL="800100" lvl="1" indent="-342900">
              <a:buFont typeface="Arial" panose="020B0604020202020204" pitchFamily="34" charset="0"/>
              <a:buChar char="•"/>
            </a:pPr>
            <a:r>
              <a:rPr lang="en-US" sz="2400" dirty="0">
                <a:ln>
                  <a:noFill/>
                </a:ln>
                <a:solidFill>
                  <a:schemeClr val="tx1"/>
                </a:solidFill>
                <a:sym typeface="+mn-ea"/>
              </a:rPr>
              <a:t>Radar: Radar sensors emit radio waves and measure the time it takes for the waves to bounce back after hitting objects. Radar is effective at detecting pedestrians, even in adverse weather conditions.</a:t>
            </a:r>
            <a:endParaRPr lang="en-US" sz="2400" dirty="0">
              <a:ln>
                <a:noFill/>
              </a:ln>
              <a:solidFill>
                <a:schemeClr val="tx1"/>
              </a:solidFill>
            </a:endParaRPr>
          </a:p>
          <a:p>
            <a:pPr marL="800100" lvl="1" indent="-342900">
              <a:buFont typeface="Arial" panose="020B0604020202020204" pitchFamily="34" charset="0"/>
              <a:buChar char="•"/>
            </a:pPr>
            <a:r>
              <a:rPr lang="en-US" sz="2400" dirty="0">
                <a:ln>
                  <a:noFill/>
                </a:ln>
                <a:solidFill>
                  <a:schemeClr val="tx1"/>
                </a:solidFill>
                <a:sym typeface="+mn-ea"/>
              </a:rPr>
              <a:t>Ultrasonic Sensors: These sensors use sound waves to detect nearby objects and can contribute to proximity sensing, especially at lower speeds.</a:t>
            </a:r>
            <a:endParaRPr lang="en-US" sz="2400" dirty="0">
              <a:ln>
                <a:noFill/>
              </a:ln>
              <a:solidFill>
                <a:schemeClr val="tx1"/>
              </a:solidFill>
            </a:endParaRPr>
          </a:p>
          <a:p>
            <a:pPr marL="800100" lvl="1" indent="-342900">
              <a:buFont typeface="Arial" panose="020B0604020202020204" pitchFamily="34" charset="0"/>
              <a:buChar char="•"/>
            </a:pPr>
            <a:r>
              <a:rPr lang="en-US" sz="2400" dirty="0">
                <a:ln>
                  <a:noFill/>
                </a:ln>
                <a:solidFill>
                  <a:schemeClr val="tx1"/>
                </a:solidFill>
                <a:sym typeface="+mn-ea"/>
              </a:rPr>
              <a:t>GPS (Global Positioning System): GPS sensors provide real-time location data for ambulances, enabling dispatchers to track their positions, optimize routing, and provide accurate estimated arrival times to emergency scenes and hospitals. </a:t>
            </a:r>
            <a:endParaRPr lang="en-US" sz="2400" dirty="0">
              <a:ln>
                <a:noFill/>
              </a:ln>
              <a:solidFill>
                <a:schemeClr val="tx1"/>
              </a:solidFill>
            </a:endParaRPr>
          </a:p>
          <a:p>
            <a:pPr marL="800100" lvl="1" indent="-342900">
              <a:buFont typeface="Arial" panose="020B0604020202020204" pitchFamily="34" charset="0"/>
              <a:buChar char="•"/>
            </a:pPr>
            <a:r>
              <a:rPr lang="en-US" sz="2400" dirty="0">
                <a:ln>
                  <a:noFill/>
                </a:ln>
                <a:solidFill>
                  <a:schemeClr val="tx1"/>
                </a:solidFill>
                <a:sym typeface="+mn-ea"/>
              </a:rPr>
              <a:t>Patient Monitoring Devices: Ambulances may be equipped with advanced patient monitoring devices that can continuously track a patient's condition during transport and transmit this data to healthcare providers in real-time.</a:t>
            </a:r>
            <a:endParaRPr lang="en-US" sz="2400" dirty="0">
              <a:ln>
                <a:noFill/>
              </a:ln>
              <a:solidFill>
                <a:schemeClr val="tx1"/>
              </a:solidFill>
            </a:endParaRPr>
          </a:p>
          <a:p>
            <a:pPr marL="0" indent="0">
              <a:buNone/>
            </a:pPr>
            <a:endParaRPr lang="en-US" sz="2400" dirty="0">
              <a:ln>
                <a:noFill/>
              </a:ln>
              <a:solidFill>
                <a:schemeClr val="tx1"/>
              </a:solidFill>
            </a:endParaRPr>
          </a:p>
          <a:p>
            <a:pPr marL="0" indent="0">
              <a:buNone/>
            </a:pPr>
            <a:endParaRPr lang="en-US" sz="2400" dirty="0">
              <a:ln>
                <a:noFill/>
              </a:ln>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40995" y="364490"/>
            <a:ext cx="11499215" cy="5812790"/>
          </a:xfrm>
        </p:spPr>
        <p:txBody>
          <a:bodyPr>
            <a:noAutofit/>
          </a:bodyPr>
          <a:p>
            <a:pPr marL="800100" lvl="1" indent="-342900">
              <a:buFont typeface="Arial" panose="020B0604020202020204" pitchFamily="34" charset="0"/>
              <a:buChar char="•"/>
            </a:pPr>
            <a:r>
              <a:rPr lang="en-US" sz="2300" dirty="0">
                <a:solidFill>
                  <a:schemeClr val="tx1"/>
                </a:solidFill>
                <a:sym typeface="+mn-ea"/>
              </a:rPr>
              <a:t>Axle Counters: Axle counters are used for train detection and to maintain accurate train spacing. They help prevent collisions and manage train traffic.</a:t>
            </a:r>
            <a:endParaRPr lang="en-US" sz="2300" dirty="0">
              <a:solidFill>
                <a:schemeClr val="tx1"/>
              </a:solidFill>
            </a:endParaRPr>
          </a:p>
          <a:p>
            <a:pPr marL="800100" lvl="1" indent="-342900">
              <a:buFont typeface="Arial" panose="020B0604020202020204" pitchFamily="34" charset="0"/>
              <a:buChar char="•"/>
            </a:pPr>
            <a:r>
              <a:rPr lang="en-US" sz="2300" dirty="0">
                <a:solidFill>
                  <a:schemeClr val="tx1"/>
                </a:solidFill>
                <a:sym typeface="+mn-ea"/>
              </a:rPr>
              <a:t>Train Health Monitoring Sensors: Sensors can be installed on trains to monitor the condition of critical components such as brakes, bearings, and suspension systems. This data helps in predictive maintenance and reduces downtime.</a:t>
            </a:r>
            <a:endParaRPr lang="en-US" sz="2300" dirty="0">
              <a:solidFill>
                <a:schemeClr val="tx1"/>
              </a:solidFill>
            </a:endParaRPr>
          </a:p>
          <a:p>
            <a:pPr marL="800100" lvl="1" indent="-342900">
              <a:buFont typeface="Arial" panose="020B0604020202020204" pitchFamily="34" charset="0"/>
              <a:buChar char="•"/>
            </a:pPr>
            <a:r>
              <a:rPr lang="en-US" sz="2300" dirty="0">
                <a:solidFill>
                  <a:schemeClr val="tx1"/>
                </a:solidFill>
                <a:sym typeface="+mn-ea"/>
              </a:rPr>
              <a:t>Speed Sensors: Speed sensors are used to monitor train speed, ensuring that trains adhere to speed limits and operate safely.</a:t>
            </a:r>
            <a:endParaRPr lang="en-US" sz="2300" dirty="0">
              <a:solidFill>
                <a:schemeClr val="tx1"/>
              </a:solidFill>
            </a:endParaRPr>
          </a:p>
          <a:p>
            <a:pPr marL="800100" lvl="1" indent="-342900">
              <a:buFont typeface="Arial" panose="020B0604020202020204" pitchFamily="34" charset="0"/>
              <a:buChar char="•"/>
            </a:pPr>
            <a:r>
              <a:rPr lang="en-US" sz="2300" dirty="0">
                <a:solidFill>
                  <a:schemeClr val="tx1"/>
                </a:solidFill>
                <a:sym typeface="+mn-ea"/>
              </a:rPr>
              <a:t>GPS (Global Positioning System): GPS sensors are used to track the real-time location of buses. They enable route planning, schedule adherence, and accurate arrival time predictions.</a:t>
            </a:r>
            <a:endParaRPr lang="en-US" sz="2300" dirty="0">
              <a:solidFill>
                <a:schemeClr val="tx1"/>
              </a:solidFill>
            </a:endParaRPr>
          </a:p>
          <a:p>
            <a:pPr marL="800100" lvl="1" indent="-342900">
              <a:buFont typeface="Arial" panose="020B0604020202020204" pitchFamily="34" charset="0"/>
              <a:buChar char="•"/>
            </a:pPr>
            <a:r>
              <a:rPr lang="en-US" sz="2300" dirty="0">
                <a:solidFill>
                  <a:schemeClr val="tx1"/>
                </a:solidFill>
                <a:sym typeface="+mn-ea"/>
              </a:rPr>
              <a:t>Passenger Counting Sensors: Sensors placed at bus doors or inside the vehicle count passengers as they board and disembark. This data aids in optimizing routes and resource allocation.</a:t>
            </a:r>
            <a:endParaRPr lang="en-US" sz="2300" dirty="0">
              <a:solidFill>
                <a:schemeClr val="tx1"/>
              </a:solidFill>
            </a:endParaRPr>
          </a:p>
          <a:p>
            <a:pPr marL="800100" lvl="1" indent="-342900">
              <a:buFont typeface="Arial" panose="020B0604020202020204" pitchFamily="34" charset="0"/>
              <a:buChar char="•"/>
            </a:pPr>
            <a:r>
              <a:rPr lang="en-US" sz="2300" dirty="0">
                <a:solidFill>
                  <a:schemeClr val="tx1"/>
                </a:solidFill>
                <a:sym typeface="+mn-ea"/>
              </a:rPr>
              <a:t>Door Sensors: These sensors detect door opening and closing, ensuring safe boarding and alighting of passengers</a:t>
            </a:r>
            <a:endParaRPr lang="en-US" sz="2300" dirty="0">
              <a:solidFill>
                <a:schemeClr val="tx1"/>
              </a:solidFill>
            </a:endParaRPr>
          </a:p>
          <a:p>
            <a:pPr marL="800100" lvl="1" indent="-342900">
              <a:buFont typeface="Arial" panose="020B0604020202020204" pitchFamily="34" charset="0"/>
              <a:buChar char="•"/>
            </a:pPr>
            <a:r>
              <a:rPr lang="en-US" sz="2300" dirty="0">
                <a:solidFill>
                  <a:schemeClr val="tx1"/>
                </a:solidFill>
                <a:sym typeface="+mn-ea"/>
              </a:rPr>
              <a:t>Collision Detection Sensors: These sensors can detect accidents or sudden deceleration and trigger emergency alerts or safety measures, such as airbag deployment.</a:t>
            </a:r>
            <a:endParaRPr lang="en-US" sz="2300" dirty="0">
              <a:solidFill>
                <a:schemeClr val="tx1"/>
              </a:solidFill>
            </a:endParaRPr>
          </a:p>
          <a:p>
            <a:endParaRPr lang="en-US" sz="2300" dirty="0">
              <a:solidFill>
                <a:schemeClr val="tx1"/>
              </a:solidFill>
            </a:endParaRPr>
          </a:p>
          <a:p>
            <a:pPr marL="0" indent="0">
              <a:buNone/>
            </a:pPr>
            <a:endParaRPr lang="en-US" sz="20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3220" y="321945"/>
            <a:ext cx="11433175" cy="6189980"/>
          </a:xfrm>
        </p:spPr>
        <p:txBody>
          <a:bodyPr>
            <a:normAutofit lnSpcReduction="20000"/>
          </a:bodyPr>
          <a:p>
            <a:pPr>
              <a:buFont typeface="Wingdings" panose="05000000000000000000" charset="0"/>
              <a:buChar char="Ø"/>
            </a:pPr>
            <a:r>
              <a:rPr lang="en-IN" sz="2400" b="1" dirty="0">
                <a:ln>
                  <a:noFill/>
                </a:ln>
                <a:solidFill>
                  <a:schemeClr val="tx1"/>
                </a:solidFill>
                <a:sym typeface="+mn-ea"/>
              </a:rPr>
              <a:t>CONNECTIVITY:</a:t>
            </a:r>
            <a:endParaRPr lang="en-IN" sz="2400" b="1" dirty="0">
              <a:ln>
                <a:noFill/>
              </a:ln>
              <a:solidFill>
                <a:schemeClr val="tx1"/>
              </a:solidFill>
              <a:sym typeface="+mn-ea"/>
            </a:endParaRPr>
          </a:p>
          <a:p>
            <a:pPr marL="800100" lvl="1" indent="-342900">
              <a:buFont typeface="Arial" panose="020B0604020202020204" pitchFamily="34" charset="0"/>
              <a:buChar char="•"/>
            </a:pPr>
            <a:r>
              <a:rPr lang="en-US" sz="2400" dirty="0">
                <a:ln>
                  <a:noFill/>
                </a:ln>
                <a:solidFill>
                  <a:schemeClr val="tx1"/>
                </a:solidFill>
                <a:effectLst>
                  <a:outerShdw blurRad="38100" dist="19050" dir="2700000" algn="tl" rotWithShape="0">
                    <a:schemeClr val="dk1">
                      <a:alpha val="40000"/>
                    </a:schemeClr>
                  </a:outerShdw>
                </a:effectLst>
                <a:sym typeface="+mn-ea"/>
              </a:rPr>
              <a:t>Dedicated Short-Range Communications (DSRC): DSRC is a wireless communication protocol designed for V2X communication, including V2P. It operates in the 5.9 GHz frequency band and allows vehicles to exchange safety-related information with pedestrians and other road users.</a:t>
            </a:r>
            <a:endParaRPr lang="en-US" sz="2400" dirty="0">
              <a:ln>
                <a:noFill/>
              </a:ln>
              <a:solidFill>
                <a:schemeClr val="tx1"/>
              </a:solidFill>
              <a:effectLst>
                <a:outerShdw blurRad="38100" dist="19050" dir="2700000" algn="tl" rotWithShape="0">
                  <a:schemeClr val="dk1">
                    <a:alpha val="40000"/>
                  </a:schemeClr>
                </a:outerShdw>
              </a:effectLst>
              <a:sym typeface="+mn-ea"/>
            </a:endParaRPr>
          </a:p>
          <a:p>
            <a:pPr marL="800100" lvl="1" indent="-342900">
              <a:buFont typeface="Arial" panose="020B0604020202020204" pitchFamily="34" charset="0"/>
              <a:buChar char="•"/>
            </a:pPr>
            <a:r>
              <a:rPr lang="en-US" sz="2400" dirty="0">
                <a:ln>
                  <a:noFill/>
                </a:ln>
                <a:solidFill>
                  <a:schemeClr val="tx1"/>
                </a:solidFill>
                <a:effectLst>
                  <a:outerShdw blurRad="38100" dist="19050" dir="2700000" algn="tl" rotWithShape="0">
                    <a:schemeClr val="dk1">
                      <a:alpha val="40000"/>
                    </a:schemeClr>
                  </a:outerShdw>
                </a:effectLst>
                <a:sym typeface="+mn-ea"/>
              </a:rPr>
              <a:t>Mobile Data Terminals (MDTs): MDTs provide a link between ambulances and dispatch centers, hospitals, and healthcare professionals. They enable the exchange of patient information, routing instructions, and communication with medical experts.</a:t>
            </a:r>
            <a:endParaRPr lang="en-US" sz="2400" dirty="0">
              <a:ln>
                <a:noFill/>
              </a:ln>
              <a:solidFill>
                <a:schemeClr val="tx1"/>
              </a:solidFill>
              <a:effectLst>
                <a:outerShdw blurRad="38100" dist="19050" dir="2700000" algn="tl" rotWithShape="0">
                  <a:schemeClr val="dk1">
                    <a:alpha val="40000"/>
                  </a:schemeClr>
                </a:outerShdw>
              </a:effectLst>
            </a:endParaRPr>
          </a:p>
          <a:p>
            <a:pPr marL="800100" lvl="1" indent="-342900">
              <a:buFont typeface="Arial" panose="020B0604020202020204" pitchFamily="34" charset="0"/>
              <a:buChar char="•"/>
            </a:pPr>
            <a:r>
              <a:rPr lang="en-US" sz="2400" dirty="0">
                <a:ln>
                  <a:noFill/>
                </a:ln>
                <a:solidFill>
                  <a:schemeClr val="tx1"/>
                </a:solidFill>
                <a:effectLst>
                  <a:outerShdw blurRad="38100" dist="19050" dir="2700000" algn="tl" rotWithShape="0">
                    <a:schemeClr val="dk1">
                      <a:alpha val="40000"/>
                    </a:schemeClr>
                  </a:outerShdw>
                </a:effectLst>
                <a:sym typeface="+mn-ea"/>
              </a:rPr>
              <a:t>Satellite Communication: In areas with poor or no cellular coverage, ambulances may rely on satellite communication to maintain connectivity.</a:t>
            </a:r>
            <a:endParaRPr lang="en-US" sz="2400" dirty="0">
              <a:ln>
                <a:noFill/>
              </a:ln>
              <a:solidFill>
                <a:schemeClr val="tx1"/>
              </a:solidFill>
              <a:effectLst>
                <a:outerShdw blurRad="38100" dist="19050" dir="2700000" algn="tl" rotWithShape="0">
                  <a:schemeClr val="dk1">
                    <a:alpha val="40000"/>
                  </a:schemeClr>
                </a:outerShdw>
              </a:effectLst>
            </a:endParaRPr>
          </a:p>
          <a:p>
            <a:pPr marL="800100" lvl="1" indent="-342900">
              <a:buFont typeface="Arial" panose="020B0604020202020204" pitchFamily="34" charset="0"/>
              <a:buChar char="•"/>
            </a:pPr>
            <a:r>
              <a:rPr lang="en-US" sz="2400" dirty="0">
                <a:ln>
                  <a:noFill/>
                </a:ln>
                <a:solidFill>
                  <a:schemeClr val="tx1"/>
                </a:solidFill>
                <a:effectLst>
                  <a:outerShdw blurRad="38100" dist="19050" dir="2700000" algn="tl" rotWithShape="0">
                    <a:schemeClr val="dk1">
                      <a:alpha val="40000"/>
                    </a:schemeClr>
                  </a:outerShdw>
                </a:effectLst>
                <a:sym typeface="+mn-ea"/>
              </a:rPr>
              <a:t>Emergency Services Network (ESN): Some regions have dedicated emergency services networks that prioritize communication for first responders, including ambulances, ensuring they have reliable connectivity during emergencies.</a:t>
            </a:r>
            <a:endParaRPr lang="en-US" sz="2400" dirty="0">
              <a:ln>
                <a:noFill/>
              </a:ln>
              <a:solidFill>
                <a:schemeClr val="tx1"/>
              </a:solidFill>
              <a:effectLst>
                <a:outerShdw blurRad="38100" dist="19050" dir="2700000" algn="tl" rotWithShape="0">
                  <a:schemeClr val="dk1">
                    <a:alpha val="40000"/>
                  </a:schemeClr>
                </a:outerShdw>
              </a:effectLst>
            </a:endParaRPr>
          </a:p>
          <a:p>
            <a:pPr marL="800100" lvl="1" indent="-342900">
              <a:buFont typeface="Arial" panose="020B0604020202020204" pitchFamily="34" charset="0"/>
              <a:buChar char="•"/>
            </a:pPr>
            <a:r>
              <a:rPr lang="en-US" sz="2400" dirty="0">
                <a:ln>
                  <a:noFill/>
                </a:ln>
                <a:solidFill>
                  <a:schemeClr val="tx1"/>
                </a:solidFill>
                <a:effectLst>
                  <a:outerShdw blurRad="38100" dist="19050" dir="2700000" algn="tl" rotWithShape="0">
                    <a:schemeClr val="dk1">
                      <a:alpha val="40000"/>
                    </a:schemeClr>
                  </a:outerShdw>
                </a:effectLst>
                <a:sym typeface="+mn-ea"/>
              </a:rPr>
              <a:t>Trackside Communication: Fiber-optic or wireless communication networks along the tracks enable data transfer between trains and control centers. These networks are used for signaling, train control, and real-time updates.</a:t>
            </a:r>
            <a:endParaRPr lang="en-US" sz="2400" dirty="0">
              <a:ln>
                <a:noFill/>
              </a:ln>
              <a:solidFill>
                <a:schemeClr val="tx1"/>
              </a:solidFill>
              <a:effectLst>
                <a:outerShdw blurRad="38100" dist="19050" dir="2700000" algn="tl" rotWithShape="0">
                  <a:schemeClr val="dk1">
                    <a:alpha val="40000"/>
                  </a:schemeClr>
                </a:outerShdw>
              </a:effectLst>
            </a:endParaRPr>
          </a:p>
          <a:p>
            <a:pPr marL="800100" lvl="1" indent="-342900">
              <a:buFont typeface="Arial" panose="020B0604020202020204" pitchFamily="34" charset="0"/>
              <a:buChar char="•"/>
            </a:pPr>
            <a:r>
              <a:rPr lang="en-US" sz="2400" dirty="0">
                <a:ln>
                  <a:noFill/>
                </a:ln>
                <a:solidFill>
                  <a:schemeClr val="tx1"/>
                </a:solidFill>
                <a:effectLst>
                  <a:outerShdw blurRad="38100" dist="19050" dir="2700000" algn="tl" rotWithShape="0">
                    <a:schemeClr val="dk1">
                      <a:alpha val="40000"/>
                    </a:schemeClr>
                  </a:outerShdw>
                </a:effectLst>
                <a:sym typeface="+mn-ea"/>
              </a:rPr>
              <a:t>Wireless Communication Networks: Buses use wireless networks, including cellular and Wi-Fi, for passenger Wi-Fi access, real-time data exchange with control centers, and fleet management.</a:t>
            </a:r>
            <a:endParaRPr lang="en-US" sz="2400" dirty="0">
              <a:ln>
                <a:noFill/>
              </a:ln>
              <a:solidFill>
                <a:schemeClr val="tx1"/>
              </a:solidFill>
              <a:effectLst>
                <a:outerShdw blurRad="38100" dist="19050" dir="2700000" algn="tl" rotWithShape="0">
                  <a:schemeClr val="dk1">
                    <a:alpha val="40000"/>
                  </a:schemeClr>
                </a:outerShdw>
              </a:effectLst>
            </a:endParaRPr>
          </a:p>
          <a:p>
            <a:pPr>
              <a:buFont typeface="Arial" panose="020B0604020202020204" pitchFamily="34" charset="0"/>
              <a:buChar char="•"/>
            </a:pPr>
            <a:endParaRPr lang="en-US" sz="2400" b="1" dirty="0">
              <a:ln>
                <a:noFill/>
              </a:ln>
              <a:solidFill>
                <a:schemeClr val="tx1"/>
              </a:solidFill>
              <a:effectLst>
                <a:outerShdw blurRad="38100" dist="19050" dir="2700000" algn="tl" rotWithShape="0">
                  <a:schemeClr val="dk1">
                    <a:alpha val="40000"/>
                  </a:schemeClr>
                </a:outerShdw>
              </a:effectLst>
              <a:sym typeface="+mn-ea"/>
            </a:endParaRPr>
          </a:p>
          <a:p>
            <a:pPr>
              <a:buFont typeface="Arial" panose="020B0604020202020204" pitchFamily="34" charset="0"/>
              <a:buChar char="•"/>
            </a:pPr>
            <a:endParaRPr lang="en-IN" sz="2400" b="1" dirty="0">
              <a:ln>
                <a:noFill/>
              </a:ln>
              <a:solidFill>
                <a:schemeClr val="tx1"/>
              </a:solidFill>
              <a:sym typeface="+mn-ea"/>
            </a:endParaRPr>
          </a:p>
          <a:p>
            <a:pPr>
              <a:buFont typeface="Wingdings" panose="05000000000000000000" charset="0"/>
              <a:buChar char="Ø"/>
            </a:pPr>
            <a:endParaRPr lang="en-IN" sz="2400" b="1" dirty="0">
              <a:ln>
                <a:noFill/>
              </a:ln>
              <a:solidFill>
                <a:schemeClr val="tx1"/>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19405" y="332740"/>
            <a:ext cx="11563350" cy="6158230"/>
          </a:xfrm>
        </p:spPr>
        <p:txBody>
          <a:bodyPr/>
          <a:p>
            <a:pPr>
              <a:buFont typeface="Wingdings" panose="05000000000000000000" charset="0"/>
              <a:buChar char="Ø"/>
            </a:pPr>
            <a:r>
              <a:rPr lang="en-IN" sz="2400" b="1" dirty="0">
                <a:ln>
                  <a:noFill/>
                </a:ln>
                <a:solidFill>
                  <a:schemeClr val="tx1"/>
                </a:solidFill>
                <a:sym typeface="+mn-ea"/>
              </a:rPr>
              <a:t>CLOUD:</a:t>
            </a:r>
            <a:endParaRPr lang="en-IN" sz="2400" b="1" dirty="0">
              <a:ln>
                <a:noFill/>
              </a:ln>
              <a:solidFill>
                <a:schemeClr val="tx1"/>
              </a:solidFill>
              <a:sym typeface="+mn-ea"/>
            </a:endParaRPr>
          </a:p>
          <a:p>
            <a:pPr marL="914400" lvl="1" indent="-457200">
              <a:buFont typeface="Arial" panose="020B0604020202020204" pitchFamily="34" charset="0"/>
              <a:buChar char="•"/>
            </a:pPr>
            <a:r>
              <a:rPr lang="en-US" dirty="0">
                <a:solidFill>
                  <a:schemeClr val="tx1"/>
                </a:solidFill>
                <a:effectLst>
                  <a:outerShdw blurRad="38100" dist="19050" dir="2700000" algn="tl" rotWithShape="0">
                    <a:schemeClr val="dk1">
                      <a:alpha val="40000"/>
                    </a:schemeClr>
                  </a:outerShdw>
                </a:effectLst>
                <a:sym typeface="+mn-ea"/>
              </a:rPr>
              <a:t>Alert Generation: Cloud services can generate alerts and warnings for drivers and pedestrians based on real-time V2P data</a:t>
            </a:r>
            <a:endParaRPr lang="en-US" dirty="0">
              <a:solidFill>
                <a:schemeClr val="tx1"/>
              </a:solidFill>
              <a:effectLst>
                <a:outerShdw blurRad="38100" dist="19050" dir="2700000" algn="tl" rotWithShape="0">
                  <a:schemeClr val="dk1">
                    <a:alpha val="40000"/>
                  </a:schemeClr>
                </a:outerShdw>
              </a:effectLst>
            </a:endParaRPr>
          </a:p>
          <a:p>
            <a:pPr marL="914400" lvl="1" indent="-457200">
              <a:buFont typeface="Arial" panose="020B0604020202020204" pitchFamily="34" charset="0"/>
              <a:buChar char="•"/>
            </a:pPr>
            <a:r>
              <a:rPr lang="en-US" dirty="0">
                <a:solidFill>
                  <a:schemeClr val="tx1"/>
                </a:solidFill>
                <a:effectLst>
                  <a:outerShdw blurRad="38100" dist="19050" dir="2700000" algn="tl" rotWithShape="0">
                    <a:schemeClr val="dk1">
                      <a:alpha val="40000"/>
                    </a:schemeClr>
                  </a:outerShdw>
                </a:effectLst>
                <a:sym typeface="+mn-ea"/>
              </a:rPr>
              <a:t>Data Sharing: Cloud platforms may facilitate data sharing between vehicles, infrastructure, and pedestrians to enhance safety.</a:t>
            </a:r>
            <a:endParaRPr lang="en-US" dirty="0">
              <a:solidFill>
                <a:schemeClr val="tx1"/>
              </a:solidFill>
              <a:effectLst>
                <a:outerShdw blurRad="38100" dist="19050" dir="2700000" algn="tl" rotWithShape="0">
                  <a:schemeClr val="dk1">
                    <a:alpha val="40000"/>
                  </a:schemeClr>
                </a:outerShdw>
              </a:effectLst>
            </a:endParaRPr>
          </a:p>
          <a:p>
            <a:pPr marL="914400" lvl="1" indent="-457200">
              <a:buFont typeface="Arial" panose="020B0604020202020204" pitchFamily="34" charset="0"/>
              <a:buChar char="•"/>
            </a:pPr>
            <a:r>
              <a:rPr lang="en-US" dirty="0">
                <a:solidFill>
                  <a:schemeClr val="tx1"/>
                </a:solidFill>
                <a:effectLst>
                  <a:outerShdw blurRad="38100" dist="19050" dir="2700000" algn="tl" rotWithShape="0">
                    <a:schemeClr val="dk1">
                      <a:alpha val="40000"/>
                    </a:schemeClr>
                  </a:outerShdw>
                </a:effectLst>
                <a:sym typeface="+mn-ea"/>
              </a:rPr>
              <a:t>Data Analytics and Reporting: Cloud-based data analytics platforms can analyze ambulance operations data, including response times, routes, and patient outcomes, to identify areas for improvement and optimize services….. Cloud platforms analyze data from various sensors and systems to provide insights into train operations, passenger flow, and system efficiency….. Cloud-based platforms analyze data from sensors, passenger counts, and vehicle locations to optimize bus routes, schedules, and resource allocation.</a:t>
            </a:r>
            <a:endParaRPr lang="en-US" dirty="0">
              <a:solidFill>
                <a:schemeClr val="tx1"/>
              </a:solidFill>
              <a:effectLst>
                <a:outerShdw blurRad="38100" dist="19050" dir="2700000" algn="tl" rotWithShape="0">
                  <a:schemeClr val="dk1">
                    <a:alpha val="40000"/>
                  </a:schemeClr>
                </a:outerShdw>
              </a:effectLst>
              <a:sym typeface="+mn-ea"/>
            </a:endParaRPr>
          </a:p>
          <a:p>
            <a:pPr marL="457200" lvl="1" indent="0">
              <a:buFont typeface="Arial" panose="020B0604020202020204" pitchFamily="34" charset="0"/>
              <a:buNone/>
            </a:pPr>
            <a:endParaRPr lang="en-US" b="1" dirty="0">
              <a:ln>
                <a:noFill/>
              </a:ln>
              <a:solidFill>
                <a:schemeClr val="tx1"/>
              </a:solidFill>
              <a:effectLst>
                <a:outerShdw blurRad="38100" dist="19050" dir="2700000" algn="tl" rotWithShape="0">
                  <a:schemeClr val="dk1">
                    <a:alpha val="40000"/>
                  </a:schemeClr>
                </a:outerShdw>
              </a:effectLst>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94970" y="321945"/>
            <a:ext cx="11412220" cy="6115050"/>
          </a:xfrm>
        </p:spPr>
        <p:txBody>
          <a:bodyPr/>
          <a:p>
            <a:pPr>
              <a:buFont typeface="Wingdings" panose="05000000000000000000" charset="0"/>
              <a:buChar char="Ø"/>
            </a:pPr>
            <a:r>
              <a:rPr lang="en-IN" sz="2400" b="1" dirty="0">
                <a:solidFill>
                  <a:schemeClr val="tx1"/>
                </a:solidFill>
                <a:sym typeface="+mn-ea"/>
              </a:rPr>
              <a:t>PROTOCOL:</a:t>
            </a:r>
            <a:endParaRPr lang="en-IN" sz="2400" b="1" dirty="0">
              <a:solidFill>
                <a:schemeClr val="tx1"/>
              </a:solidFill>
              <a:sym typeface="+mn-ea"/>
            </a:endParaRPr>
          </a:p>
          <a:p>
            <a:pPr marL="800100" lvl="1" indent="-342900">
              <a:buFont typeface="Arial" panose="020B0604020202020204" pitchFamily="34" charset="0"/>
              <a:buChar char="•"/>
            </a:pPr>
            <a:r>
              <a:rPr lang="en-US" dirty="0">
                <a:solidFill>
                  <a:schemeClr val="tx1"/>
                </a:solidFill>
                <a:sym typeface="+mn-ea"/>
              </a:rPr>
              <a:t>IEEE 802.11p: This is a standard designed for wireless access in vehicular environments (WAVE) and is commonly used for V2X communication, including V2P.</a:t>
            </a:r>
            <a:endParaRPr lang="en-US" dirty="0">
              <a:solidFill>
                <a:schemeClr val="tx1"/>
              </a:solidFill>
            </a:endParaRPr>
          </a:p>
          <a:p>
            <a:pPr marL="800100" lvl="1" indent="-342900">
              <a:buFont typeface="Arial" panose="020B0604020202020204" pitchFamily="34" charset="0"/>
              <a:buChar char="•"/>
            </a:pPr>
            <a:r>
              <a:rPr lang="en-US" dirty="0">
                <a:solidFill>
                  <a:schemeClr val="tx1"/>
                </a:solidFill>
                <a:sym typeface="+mn-ea"/>
              </a:rPr>
              <a:t>Emergency Medical Services (EMS) Protocols: EMS protocols define the procedures and guidelines that paramedics and emergency medical technicians (EMTs) follow during patient assessment, treatment, and transportation. Optimization efforts may involve streamlining these protocols for efficiency.</a:t>
            </a:r>
            <a:endParaRPr lang="en-US" dirty="0">
              <a:solidFill>
                <a:schemeClr val="tx1"/>
              </a:solidFill>
            </a:endParaRPr>
          </a:p>
          <a:p>
            <a:pPr marL="800100" lvl="1" indent="-342900">
              <a:buFont typeface="Arial" panose="020B0604020202020204" pitchFamily="34" charset="0"/>
              <a:buChar char="•"/>
            </a:pPr>
            <a:r>
              <a:rPr lang="en-US" dirty="0">
                <a:solidFill>
                  <a:schemeClr val="tx1"/>
                </a:solidFill>
                <a:sym typeface="+mn-ea"/>
              </a:rPr>
              <a:t>Communication Protocols: Ambulance crews follow established communication protocols to ensure clear and efficient communication with dispatch centers, hospitals, and other first responders.</a:t>
            </a:r>
            <a:endParaRPr lang="en-US" dirty="0">
              <a:solidFill>
                <a:schemeClr val="tx1"/>
              </a:solidFill>
            </a:endParaRPr>
          </a:p>
          <a:p>
            <a:pPr marL="800100" lvl="1" indent="-342900">
              <a:buFont typeface="Arial" panose="020B0604020202020204" pitchFamily="34" charset="0"/>
              <a:buChar char="•"/>
            </a:pPr>
            <a:r>
              <a:rPr lang="en-IN" dirty="0">
                <a:solidFill>
                  <a:schemeClr val="tx1"/>
                </a:solidFill>
                <a:sym typeface="+mn-ea"/>
              </a:rPr>
              <a:t>Train Control Protocols: Train control systems use various protocols for communication between trains and the central control </a:t>
            </a:r>
            <a:r>
              <a:rPr lang="en-IN" dirty="0" err="1">
                <a:solidFill>
                  <a:schemeClr val="tx1"/>
                </a:solidFill>
                <a:sym typeface="+mn-ea"/>
              </a:rPr>
              <a:t>center</a:t>
            </a:r>
            <a:r>
              <a:rPr lang="en-IN" dirty="0">
                <a:solidFill>
                  <a:schemeClr val="tx1"/>
                </a:solidFill>
                <a:sym typeface="+mn-ea"/>
              </a:rPr>
              <a:t>. Common protocols include European Train Control System (ETCS), Positive Train Control (PTC), and others.</a:t>
            </a:r>
            <a:endParaRPr lang="en-IN" dirty="0">
              <a:solidFill>
                <a:schemeClr val="tx1"/>
              </a:solidFill>
            </a:endParaRPr>
          </a:p>
          <a:p>
            <a:pPr marL="800100" lvl="1" indent="-342900">
              <a:buFont typeface="Arial" panose="020B0604020202020204" pitchFamily="34" charset="0"/>
              <a:buChar char="•"/>
            </a:pPr>
            <a:r>
              <a:rPr lang="en-US" dirty="0">
                <a:solidFill>
                  <a:schemeClr val="tx1"/>
                </a:solidFill>
                <a:sym typeface="+mn-ea"/>
              </a:rPr>
              <a:t>Intelligent Transportation System (ITS) Protocols: ITS protocols enable communication between buses, traffic management centers, and passenger information systems, allowing for real-time updates and coordination.</a:t>
            </a:r>
            <a:endParaRPr lang="en-US" dirty="0">
              <a:solidFill>
                <a:schemeClr val="tx1"/>
              </a:solidFill>
            </a:endParaRPr>
          </a:p>
          <a:p>
            <a:pPr marL="0" indent="0">
              <a:buFont typeface="Wingdings" panose="05000000000000000000" charset="0"/>
              <a:buNone/>
            </a:pPr>
            <a:endParaRPr lang="en-US" b="1" dirty="0">
              <a:solidFill>
                <a:schemeClr val="tx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1950" y="311785"/>
            <a:ext cx="11564620" cy="6243955"/>
          </a:xfrm>
        </p:spPr>
        <p:txBody>
          <a:bodyPr/>
          <a:p>
            <a:pPr>
              <a:buFont typeface="Wingdings" panose="05000000000000000000" charset="0"/>
              <a:buChar char="Ø"/>
            </a:pPr>
            <a:r>
              <a:rPr lang="en-IN" altLang="en-US" sz="2400" b="1">
                <a:solidFill>
                  <a:schemeClr val="tx1"/>
                </a:solidFill>
                <a:sym typeface="+mn-ea"/>
              </a:rPr>
              <a:t>PUBLIC PLATFORM:</a:t>
            </a:r>
            <a:endParaRPr lang="en-IN" altLang="en-US" sz="2400" b="1">
              <a:solidFill>
                <a:schemeClr val="tx1"/>
              </a:solidFill>
            </a:endParaRPr>
          </a:p>
          <a:p>
            <a:pPr lvl="1">
              <a:buFont typeface="Arial" panose="020B0604020202020204" pitchFamily="34" charset="0"/>
              <a:buChar char="•"/>
            </a:pPr>
            <a:r>
              <a:rPr lang="en-US" sz="2400" dirty="0">
                <a:solidFill>
                  <a:schemeClr val="tx1"/>
                </a:solidFill>
                <a:sym typeface="+mn-ea"/>
              </a:rPr>
              <a:t>Smart City Initiatives: Smart cities may invest in infrastructure that supports V2P communication, including sensors, roadside equipment, and data platforms.</a:t>
            </a:r>
            <a:endParaRPr lang="en-US" sz="2400" dirty="0">
              <a:solidFill>
                <a:schemeClr val="tx1"/>
              </a:solidFill>
            </a:endParaRPr>
          </a:p>
          <a:p>
            <a:pPr lvl="1">
              <a:buFont typeface="Arial" panose="020B0604020202020204" pitchFamily="34" charset="0"/>
              <a:buChar char="•"/>
            </a:pPr>
            <a:r>
              <a:rPr lang="en-US" sz="2400" dirty="0">
                <a:solidFill>
                  <a:schemeClr val="tx1"/>
                </a:solidFill>
                <a:sym typeface="+mn-ea"/>
              </a:rPr>
              <a:t>Traffic Management Authorities(TMA): Traffic management authorities can use V2P data to enhance pedestrian safety and improve traffic flow.</a:t>
            </a:r>
            <a:endParaRPr lang="en-IN" sz="2400" dirty="0">
              <a:solidFill>
                <a:schemeClr val="tx1"/>
              </a:solidFill>
            </a:endParaRPr>
          </a:p>
          <a:p>
            <a:pPr lvl="1">
              <a:buFont typeface="Arial" panose="020B0604020202020204" pitchFamily="34" charset="0"/>
              <a:buChar char="•"/>
            </a:pPr>
            <a:r>
              <a:rPr lang="en-US" sz="2400" dirty="0">
                <a:solidFill>
                  <a:schemeClr val="tx1"/>
                </a:solidFill>
                <a:sym typeface="+mn-ea"/>
              </a:rPr>
              <a:t>Public Alert Systems: Public alert systems and mobile apps may provide real-time information to the public about emergency situations, including ambulance responses and safety instructions.</a:t>
            </a:r>
            <a:endParaRPr lang="en-US" sz="2400" dirty="0">
              <a:solidFill>
                <a:schemeClr val="tx1"/>
              </a:solidFill>
            </a:endParaRPr>
          </a:p>
          <a:p>
            <a:pPr lvl="1">
              <a:buFont typeface="Arial" panose="020B0604020202020204" pitchFamily="34" charset="0"/>
              <a:buChar char="•"/>
            </a:pPr>
            <a:r>
              <a:rPr lang="en-US" sz="2400" dirty="0">
                <a:solidFill>
                  <a:schemeClr val="tx1"/>
                </a:solidFill>
                <a:sym typeface="+mn-ea"/>
              </a:rPr>
              <a:t>Integrated Healthcare Systems(IHS): In regions with integrated healthcare systems, ambulances are part of a larger network that coordinates pre-hospital care, emergency departments, and follow-up care for patients.</a:t>
            </a:r>
            <a:endParaRPr lang="en-US" sz="2400" dirty="0">
              <a:solidFill>
                <a:schemeClr val="tx1"/>
              </a:solidFill>
            </a:endParaRPr>
          </a:p>
          <a:p>
            <a:pPr lvl="1">
              <a:buFont typeface="Arial" panose="020B0604020202020204" pitchFamily="34" charset="0"/>
              <a:buChar char="•"/>
            </a:pPr>
            <a:r>
              <a:rPr lang="en-US" sz="2400" dirty="0">
                <a:solidFill>
                  <a:schemeClr val="tx1"/>
                </a:solidFill>
                <a:sym typeface="+mn-ea"/>
              </a:rPr>
              <a:t>Passenger Information Systems: These systems provide real-time information to passengers regarding train schedules, delays, and platform changes. Public information displays and mobile apps are common interfaces.</a:t>
            </a:r>
            <a:endParaRPr lang="en-US" sz="2400" dirty="0">
              <a:solidFill>
                <a:schemeClr val="tx1"/>
              </a:solidFill>
            </a:endParaRPr>
          </a:p>
          <a:p>
            <a:pPr lvl="1">
              <a:buFont typeface="Arial" panose="020B0604020202020204" pitchFamily="34" charset="0"/>
              <a:buChar char="•"/>
            </a:pPr>
            <a:r>
              <a:rPr lang="en-US" sz="2400" dirty="0">
                <a:solidFill>
                  <a:schemeClr val="tx1"/>
                </a:solidFill>
                <a:sym typeface="+mn-ea"/>
              </a:rPr>
              <a:t>Transit Apps: Transit apps provide real-time information to passengers, allowing them to plan routes, check schedules, and receive alerts about delays or disruptions</a:t>
            </a:r>
            <a:r>
              <a:rPr lang="en-IN" altLang="en-US" sz="2400" dirty="0">
                <a:solidFill>
                  <a:schemeClr val="tx1"/>
                </a:solidFill>
                <a:sym typeface="+mn-ea"/>
              </a:rPr>
              <a:t>.</a:t>
            </a:r>
            <a:endParaRPr lang="en-IN" altLang="en-US" sz="2400" dirty="0">
              <a:solidFill>
                <a:schemeClr val="tx1"/>
              </a:solidFill>
              <a:sym typeface="+mn-ea"/>
            </a:endParaRPr>
          </a:p>
          <a:p>
            <a:pPr>
              <a:buFont typeface="Arial" panose="020B0604020202020204" pitchFamily="34" charset="0"/>
              <a:buChar char="•"/>
            </a:pPr>
            <a:endParaRPr lang="en-IN" altLang="en-US" sz="2400" b="1" dirty="0">
              <a:solidFill>
                <a:schemeClr val="tx1"/>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05765" y="311785"/>
            <a:ext cx="11412855" cy="6179185"/>
          </a:xfrm>
        </p:spPr>
        <p:txBody>
          <a:bodyPr>
            <a:noAutofit/>
          </a:bodyPr>
          <a:p>
            <a:pPr marL="0" indent="0" algn="l">
              <a:buNone/>
            </a:pPr>
            <a:r>
              <a:rPr lang="en-US" sz="2400" b="1">
                <a:sym typeface="+mn-ea"/>
              </a:rPr>
              <a:t>SENSORS USED</a:t>
            </a:r>
            <a:r>
              <a:rPr lang="en-IN" altLang="en-US" sz="2400" b="1">
                <a:sym typeface="+mn-ea"/>
              </a:rPr>
              <a:t>:-</a:t>
            </a:r>
            <a:endParaRPr lang="en-US" sz="2400" b="1"/>
          </a:p>
          <a:p>
            <a:pPr marL="457200" indent="-457200" algn="l">
              <a:buFont typeface="Wingdings" panose="05000000000000000000" charset="0"/>
              <a:buChar char="Ø"/>
            </a:pPr>
            <a:r>
              <a:rPr lang="en-US" sz="2200">
                <a:sym typeface="+mn-ea"/>
              </a:rPr>
              <a:t>HC-SR04</a:t>
            </a:r>
            <a:endParaRPr lang="en-US" sz="2200">
              <a:sym typeface="+mn-ea"/>
            </a:endParaRPr>
          </a:p>
          <a:p>
            <a:pPr marL="571500" indent="-571500" algn="l">
              <a:buFont typeface="Arial" panose="020B0604020202020204" pitchFamily="34" charset="0"/>
              <a:buChar char="•"/>
            </a:pPr>
            <a:r>
              <a:rPr lang="en-US" sz="2200" b="1">
                <a:sym typeface="+mn-ea"/>
              </a:rPr>
              <a:t>Working Principle</a:t>
            </a:r>
            <a:r>
              <a:rPr lang="en-US" sz="2200">
                <a:sym typeface="+mn-ea"/>
              </a:rPr>
              <a:t>: The HC-SR04 sensor operates on the principle of echolocation, similar to how bats navigate. It emits ultrasonic sound waves (inaudible to the human ear) and measures the time it takes for the sound waves to bounce back after hitting an object. By knowing the speed of sound in the air, it can calculate the distance to the object.</a:t>
            </a:r>
            <a:endParaRPr lang="en-US" sz="2200"/>
          </a:p>
          <a:p>
            <a:pPr marL="571500" indent="-571500" algn="l">
              <a:buFont typeface="Arial" panose="020B0604020202020204" pitchFamily="34" charset="0"/>
              <a:buChar char="•"/>
            </a:pPr>
            <a:r>
              <a:rPr lang="en-US" sz="2200" b="1">
                <a:sym typeface="+mn-ea"/>
              </a:rPr>
              <a:t>Components</a:t>
            </a:r>
            <a:r>
              <a:rPr lang="en-US" sz="2200">
                <a:sym typeface="+mn-ea"/>
              </a:rPr>
              <a:t>: The HC-SR04 module consists of several key components, including:</a:t>
            </a:r>
            <a:endParaRPr lang="en-US" sz="2200"/>
          </a:p>
          <a:p>
            <a:pPr lvl="1" algn="l">
              <a:buFont typeface="Arial" panose="020B0604020202020204" pitchFamily="34" charset="0"/>
            </a:pPr>
            <a:r>
              <a:rPr lang="en-US" sz="2200">
                <a:sym typeface="+mn-ea"/>
              </a:rPr>
              <a:t>Ultrasonic Transmitter: Emits high-frequency sound waves.</a:t>
            </a:r>
            <a:endParaRPr lang="en-US" sz="2200"/>
          </a:p>
          <a:p>
            <a:pPr lvl="1" algn="l">
              <a:buFont typeface="Arial" panose="020B0604020202020204" pitchFamily="34" charset="0"/>
            </a:pPr>
            <a:r>
              <a:rPr lang="en-US" sz="2200">
                <a:sym typeface="+mn-ea"/>
              </a:rPr>
              <a:t>Ultrasonic Receiver: Detects the reflected sound waves.</a:t>
            </a:r>
            <a:endParaRPr lang="en-US" sz="2200"/>
          </a:p>
          <a:p>
            <a:pPr lvl="1" algn="l">
              <a:buFont typeface="Arial" panose="020B0604020202020204" pitchFamily="34" charset="0"/>
            </a:pPr>
            <a:r>
              <a:rPr lang="en-US" sz="2200">
                <a:sym typeface="+mn-ea"/>
              </a:rPr>
              <a:t>Control Circuit: Manages the timing and distance</a:t>
            </a:r>
            <a:r>
              <a:rPr lang="en-IN" altLang="en-US" sz="2200">
                <a:sym typeface="+mn-ea"/>
              </a:rPr>
              <a:t> </a:t>
            </a:r>
            <a:r>
              <a:rPr lang="en-US" sz="2200">
                <a:sym typeface="+mn-ea"/>
              </a:rPr>
              <a:t>calculation.</a:t>
            </a:r>
            <a:endParaRPr lang="en-US" sz="2200">
              <a:sym typeface="+mn-ea"/>
            </a:endParaRPr>
          </a:p>
          <a:p>
            <a:pPr lvl="0" algn="l">
              <a:buFont typeface="Arial" panose="020B0604020202020204" pitchFamily="34" charset="0"/>
            </a:pPr>
            <a:r>
              <a:rPr lang="en-US" sz="2200" b="1">
                <a:sym typeface="+mn-ea"/>
              </a:rPr>
              <a:t>Arduino and Raspberry Pi Compatibility: </a:t>
            </a:r>
            <a:r>
              <a:rPr lang="en-US" sz="2200">
                <a:sym typeface="+mn-ea"/>
              </a:rPr>
              <a:t>The HC-SR04 sensor is widely used with microcontrollers like Arduino and single-board computers like Raspberry Pi. Libraries and code examples are available for easy integration into your projects.</a:t>
            </a:r>
            <a:endParaRPr lang="en-US" sz="2200"/>
          </a:p>
          <a:p>
            <a:r>
              <a:rPr lang="en-US" sz="2200" b="1">
                <a:sym typeface="+mn-ea"/>
              </a:rPr>
              <a:t>Applications: </a:t>
            </a:r>
            <a:r>
              <a:rPr lang="en-US" sz="2200">
                <a:sym typeface="+mn-ea"/>
              </a:rPr>
              <a:t>The HC-SR04 sensor is versatile and finds applications in various projects, including obstacle avoidance for robots, measuring liquid levels in tanks, parking assist systems, and distance measurement in IoT applications.</a:t>
            </a:r>
            <a:endParaRPr lang="en-US" sz="1885"/>
          </a:p>
          <a:p>
            <a:pPr marL="914400" lvl="2" indent="0" algn="l">
              <a:buFont typeface="Arial" panose="020B0604020202020204" pitchFamily="34" charset="0"/>
              <a:buNone/>
            </a:pPr>
            <a:endParaRPr lang="en-US" sz="1830"/>
          </a:p>
          <a:p>
            <a:pPr marL="0" indent="0" algn="l">
              <a:buFont typeface="Wingdings" panose="05000000000000000000" charset="0"/>
              <a:buNone/>
            </a:pPr>
            <a:endParaRPr lang="en-US" sz="2200"/>
          </a:p>
          <a:p>
            <a:pPr marL="0" indent="0">
              <a:buNone/>
            </a:pPr>
            <a:endParaRPr lang="en-US" sz="2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40995" y="332740"/>
            <a:ext cx="11391265" cy="6233160"/>
          </a:xfrm>
        </p:spPr>
        <p:txBody>
          <a:bodyPr/>
          <a:p>
            <a:pPr>
              <a:buFont typeface="Wingdings" panose="05000000000000000000" charset="0"/>
              <a:buChar char="Ø"/>
            </a:pPr>
            <a:r>
              <a:rPr lang="en-IN" altLang="en-US" sz="2400">
                <a:sym typeface="+mn-ea"/>
              </a:rPr>
              <a:t>ESP32</a:t>
            </a:r>
            <a:endParaRPr lang="en-IN" altLang="en-US" sz="2400"/>
          </a:p>
          <a:p>
            <a:pPr>
              <a:buFont typeface="Arial" panose="020B0604020202020204" pitchFamily="34" charset="0"/>
              <a:buChar char="•"/>
            </a:pPr>
            <a:r>
              <a:rPr lang="en-IN" altLang="en-US" sz="2400" b="1">
                <a:sym typeface="+mn-ea"/>
              </a:rPr>
              <a:t>Dual-Core Processor:</a:t>
            </a:r>
            <a:r>
              <a:rPr lang="en-IN" altLang="en-US" sz="2400">
                <a:sym typeface="+mn-ea"/>
              </a:rPr>
              <a:t> </a:t>
            </a:r>
            <a:endParaRPr lang="en-IN" altLang="en-US" sz="2400"/>
          </a:p>
          <a:p>
            <a:pPr marL="0" indent="0">
              <a:buFont typeface="Wingdings" panose="05000000000000000000" charset="0"/>
              <a:buNone/>
            </a:pPr>
            <a:r>
              <a:rPr lang="en-IN" altLang="en-US" sz="2400">
                <a:sym typeface="+mn-ea"/>
              </a:rPr>
              <a:t>          The ESP32 features two Tensilica Xtensa LX6 microprocessor cores. These dual cores can be used to handle different tasks simultaneously, making it suitable for multitasking applications.</a:t>
            </a:r>
            <a:endParaRPr lang="en-IN" altLang="en-US" sz="2400"/>
          </a:p>
          <a:p>
            <a:r>
              <a:rPr lang="en-IN" altLang="en-US" sz="2400" b="1">
                <a:sym typeface="+mn-ea"/>
              </a:rPr>
              <a:t>Wireless Connectivity:</a:t>
            </a:r>
            <a:r>
              <a:rPr lang="en-IN" altLang="en-US" sz="2400">
                <a:sym typeface="+mn-ea"/>
              </a:rPr>
              <a:t> </a:t>
            </a:r>
            <a:endParaRPr lang="en-IN" altLang="en-US" sz="2400"/>
          </a:p>
          <a:p>
            <a:pPr marL="0" indent="0">
              <a:buFont typeface="Wingdings" panose="05000000000000000000" charset="0"/>
              <a:buNone/>
            </a:pPr>
            <a:r>
              <a:rPr lang="en-IN" altLang="en-US" sz="2400">
                <a:sym typeface="+mn-ea"/>
              </a:rPr>
              <a:t>          The ESP32 is known for its extensive wireless capabilities. It supports both Wi-Fi (802.11b/g/n) and Bluetooth (Bluetooth Classic and BLE) communication. This makes it suitable for IoT projects requiring wireless connectivity.</a:t>
            </a:r>
            <a:endParaRPr lang="en-IN" altLang="en-US" sz="2400"/>
          </a:p>
          <a:p>
            <a:r>
              <a:rPr lang="en-IN" altLang="en-US" sz="2400" b="1">
                <a:sym typeface="+mn-ea"/>
              </a:rPr>
              <a:t>Integrated Peripherals:</a:t>
            </a:r>
            <a:r>
              <a:rPr lang="en-IN" altLang="en-US" sz="2400">
                <a:sym typeface="+mn-ea"/>
              </a:rPr>
              <a:t> </a:t>
            </a:r>
            <a:endParaRPr lang="en-IN" altLang="en-US" sz="2400"/>
          </a:p>
          <a:p>
            <a:pPr marL="0" indent="0">
              <a:buFont typeface="Wingdings" panose="05000000000000000000" charset="0"/>
              <a:buNone/>
            </a:pPr>
            <a:r>
              <a:rPr lang="en-IN" altLang="en-US" sz="2400">
                <a:sym typeface="+mn-ea"/>
              </a:rPr>
              <a:t>          It includes a variety of peripherals such as GPIO pins, UART, SPI, I2C, PWM, and more, making it suitable for interfacing with various sensors and actuators.</a:t>
            </a:r>
            <a:endParaRPr lang="en-IN" altLang="en-US" sz="2400"/>
          </a:p>
          <a:p>
            <a:r>
              <a:rPr lang="en-IN" altLang="en-US" sz="2400" b="1">
                <a:sym typeface="+mn-ea"/>
              </a:rPr>
              <a:t>Ultra-Low Power Consumption:</a:t>
            </a:r>
            <a:r>
              <a:rPr lang="en-IN" altLang="en-US" sz="2400">
                <a:sym typeface="+mn-ea"/>
              </a:rPr>
              <a:t> </a:t>
            </a:r>
            <a:endParaRPr lang="en-IN" altLang="en-US" sz="2400"/>
          </a:p>
          <a:p>
            <a:pPr marL="0" indent="0">
              <a:buFont typeface="Wingdings" panose="05000000000000000000" charset="0"/>
              <a:buNone/>
            </a:pPr>
            <a:r>
              <a:rPr lang="en-IN" altLang="en-US" sz="2400">
                <a:sym typeface="+mn-ea"/>
              </a:rPr>
              <a:t>         The ESP32 is designed for power efficiency and offers different power modes to conserve energy, making it suitable for battery-powered applications.</a:t>
            </a:r>
            <a:endParaRPr 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06400" y="386715"/>
            <a:ext cx="11337290" cy="6158865"/>
          </a:xfrm>
        </p:spPr>
        <p:txBody>
          <a:bodyPr>
            <a:normAutofit lnSpcReduction="10000"/>
          </a:bodyPr>
          <a:p>
            <a:r>
              <a:rPr lang="en-US" sz="2400" b="1">
                <a:sym typeface="+mn-ea"/>
              </a:rPr>
              <a:t>Rich Development Ecosystem:</a:t>
            </a:r>
            <a:r>
              <a:rPr lang="en-US" sz="2400">
                <a:sym typeface="+mn-ea"/>
              </a:rPr>
              <a:t> </a:t>
            </a:r>
            <a:endParaRPr lang="en-US" sz="2400"/>
          </a:p>
          <a:p>
            <a:pPr marL="0" indent="0">
              <a:buNone/>
            </a:pPr>
            <a:r>
              <a:rPr lang="en-IN" altLang="en-US" sz="2400">
                <a:sym typeface="+mn-ea"/>
              </a:rPr>
              <a:t>          </a:t>
            </a:r>
            <a:r>
              <a:rPr lang="en-US" sz="2400">
                <a:sym typeface="+mn-ea"/>
              </a:rPr>
              <a:t>There are various software development platforms and IDEs available for programming the ESP32, including the Arduino IDE, PlatformIO, and the official Espressif IDF (IoT Development Framework).</a:t>
            </a:r>
            <a:endParaRPr lang="en-US" sz="2400"/>
          </a:p>
          <a:p>
            <a:r>
              <a:rPr lang="en-US" sz="2400" b="1">
                <a:sym typeface="+mn-ea"/>
              </a:rPr>
              <a:t>Security Features:</a:t>
            </a:r>
            <a:r>
              <a:rPr lang="en-US" sz="2400">
                <a:sym typeface="+mn-ea"/>
              </a:rPr>
              <a:t> </a:t>
            </a:r>
            <a:endParaRPr lang="en-US" sz="2400"/>
          </a:p>
          <a:p>
            <a:pPr marL="0" indent="0">
              <a:buNone/>
            </a:pPr>
            <a:r>
              <a:rPr lang="en-IN" altLang="en-US" sz="2400">
                <a:sym typeface="+mn-ea"/>
              </a:rPr>
              <a:t>          </a:t>
            </a:r>
            <a:r>
              <a:rPr lang="en-US" sz="2400">
                <a:sym typeface="+mn-ea"/>
              </a:rPr>
              <a:t>The ESP32 has built-in security features like secure boot and flash encryption to protect your applications and data.</a:t>
            </a:r>
            <a:endParaRPr lang="en-US" sz="2400"/>
          </a:p>
          <a:p>
            <a:r>
              <a:rPr lang="en-US" sz="2400" b="1">
                <a:sym typeface="+mn-ea"/>
              </a:rPr>
              <a:t>Support for Over-the-Air (OTA) Updates:</a:t>
            </a:r>
            <a:endParaRPr lang="en-US" sz="2400" b="1"/>
          </a:p>
          <a:p>
            <a:pPr marL="0" indent="0">
              <a:buNone/>
            </a:pPr>
            <a:r>
              <a:rPr lang="en-IN" altLang="en-US" sz="2400">
                <a:sym typeface="+mn-ea"/>
              </a:rPr>
              <a:t>         </a:t>
            </a:r>
            <a:r>
              <a:rPr lang="en-US" sz="2400">
                <a:sym typeface="+mn-ea"/>
              </a:rPr>
              <a:t> This feature allows you to update the firmware of your ESP32 remotely, making it easier to maintain IoT devices in the field.</a:t>
            </a:r>
            <a:endParaRPr lang="en-US" sz="2400"/>
          </a:p>
          <a:p>
            <a:r>
              <a:rPr lang="en-US" sz="2400" b="1">
                <a:sym typeface="+mn-ea"/>
              </a:rPr>
              <a:t>Wide Operating Voltage Range:</a:t>
            </a:r>
            <a:endParaRPr lang="en-US" sz="2400" b="1"/>
          </a:p>
          <a:p>
            <a:pPr marL="0" indent="0">
              <a:buNone/>
            </a:pPr>
            <a:r>
              <a:rPr lang="en-IN" altLang="en-US" sz="2400">
                <a:sym typeface="+mn-ea"/>
              </a:rPr>
              <a:t>          </a:t>
            </a:r>
            <a:r>
              <a:rPr lang="en-US" sz="2400">
                <a:sym typeface="+mn-ea"/>
              </a:rPr>
              <a:t>The ESP32 can operate within a wide voltage range, typically from 2.2V to 3.6V, making it compatible with a variety of power sources</a:t>
            </a:r>
            <a:endParaRPr lang="en-US" sz="2400"/>
          </a:p>
          <a:p>
            <a:pPr marL="0" indent="0">
              <a:buNone/>
            </a:pPr>
            <a:r>
              <a:rPr lang="en-US" sz="2400" b="1">
                <a:sym typeface="+mn-ea"/>
              </a:rPr>
              <a:t>Bluetooth Audio and Dual Mode:</a:t>
            </a:r>
            <a:endParaRPr lang="en-US" sz="2400" b="1"/>
          </a:p>
          <a:p>
            <a:pPr marL="0" indent="0">
              <a:buNone/>
            </a:pPr>
            <a:r>
              <a:rPr lang="en-US" sz="2400" b="1">
                <a:sym typeface="+mn-ea"/>
              </a:rPr>
              <a:t> </a:t>
            </a:r>
            <a:r>
              <a:rPr lang="en-IN" altLang="en-US" sz="2400" b="1">
                <a:sym typeface="+mn-ea"/>
              </a:rPr>
              <a:t>          </a:t>
            </a:r>
            <a:r>
              <a:rPr lang="en-US" sz="2400">
                <a:sym typeface="+mn-ea"/>
              </a:rPr>
              <a:t>It supports both classic Bluetooth and Bluetooth Low Energy (BLE), making it suitable for audio streaming and IoT applications.</a:t>
            </a:r>
            <a:endParaRPr lang="en-US" sz="2400"/>
          </a:p>
          <a:p>
            <a:pPr marL="0" indent="0">
              <a:buNone/>
            </a:pPr>
            <a:endParaRPr 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51790" y="213360"/>
            <a:ext cx="11499215" cy="6299200"/>
          </a:xfrm>
        </p:spPr>
        <p:txBody>
          <a:bodyPr>
            <a:noAutofit/>
          </a:bodyPr>
          <a:p>
            <a:r>
              <a:rPr lang="en-US" sz="1900" b="1">
                <a:sym typeface="+mn-ea"/>
              </a:rPr>
              <a:t>Hardware Security Acceleration:</a:t>
            </a:r>
            <a:r>
              <a:rPr lang="en-US" sz="1900">
                <a:sym typeface="+mn-ea"/>
              </a:rPr>
              <a:t> </a:t>
            </a:r>
            <a:endParaRPr lang="en-US" sz="1900"/>
          </a:p>
          <a:p>
            <a:pPr marL="0" indent="0">
              <a:buNone/>
            </a:pPr>
            <a:r>
              <a:rPr lang="en-IN" altLang="en-US" sz="1900">
                <a:sym typeface="+mn-ea"/>
              </a:rPr>
              <a:t>         </a:t>
            </a:r>
            <a:r>
              <a:rPr lang="en-US" sz="1900">
                <a:sym typeface="+mn-ea"/>
              </a:rPr>
              <a:t>Some versions of the ESP32 include hardware acceleration for cryptographic operations, which enhances the security of your applications.</a:t>
            </a:r>
            <a:endParaRPr lang="en-US" sz="1900"/>
          </a:p>
          <a:p>
            <a:r>
              <a:rPr lang="en-US" sz="1900" b="1">
                <a:sym typeface="+mn-ea"/>
              </a:rPr>
              <a:t>Variants:</a:t>
            </a:r>
            <a:endParaRPr lang="en-US" sz="1900" b="1"/>
          </a:p>
          <a:p>
            <a:pPr marL="0" indent="0">
              <a:buNone/>
            </a:pPr>
            <a:r>
              <a:rPr lang="en-IN" altLang="en-US" sz="1900">
                <a:sym typeface="+mn-ea"/>
              </a:rPr>
              <a:t>        </a:t>
            </a:r>
            <a:r>
              <a:rPr lang="en-US" sz="1900">
                <a:sym typeface="+mn-ea"/>
              </a:rPr>
              <a:t> There are several variants of the ESP32, each with its specific features and capabilities. For example, the ESP32-WROOM-32 is a common module used for development</a:t>
            </a:r>
            <a:r>
              <a:rPr lang="en-IN" altLang="en-US" sz="1900">
                <a:sym typeface="+mn-ea"/>
              </a:rPr>
              <a:t>.</a:t>
            </a:r>
            <a:endParaRPr lang="en-US" sz="1900"/>
          </a:p>
          <a:p>
            <a:r>
              <a:rPr lang="en-US" sz="1900">
                <a:sym typeface="+mn-ea"/>
              </a:rPr>
              <a:t>The ESP32 is widely used in various IoT and embedded systems projects, including home automation, smart devices, environmental monitoring, and more. Its versatility, low cost, and extensive development ecosystem have contributed to its popularity among developers and makers.</a:t>
            </a:r>
            <a:endParaRPr lang="en-US" sz="1900">
              <a:sym typeface="+mn-ea"/>
            </a:endParaRPr>
          </a:p>
          <a:p>
            <a:r>
              <a:rPr lang="en-US" sz="1900" b="1">
                <a:sym typeface="+mn-ea"/>
              </a:rPr>
              <a:t>Specifications:</a:t>
            </a:r>
            <a:endParaRPr lang="en-US" sz="1900" b="1"/>
          </a:p>
          <a:p>
            <a:pPr marL="0" indent="0">
              <a:buNone/>
            </a:pPr>
            <a:r>
              <a:rPr lang="en-US" sz="1900">
                <a:sym typeface="+mn-ea"/>
              </a:rPr>
              <a:t>  Operating Voltage: Typically operates at 5V DC.</a:t>
            </a:r>
            <a:endParaRPr lang="en-US" sz="1900"/>
          </a:p>
          <a:p>
            <a:pPr marL="0" indent="0">
              <a:buNone/>
            </a:pPr>
            <a:r>
              <a:rPr lang="en-US" sz="1900">
                <a:sym typeface="+mn-ea"/>
              </a:rPr>
              <a:t>  Measurement Range: The HC-SR04 can measure distances accurately within a range of 2 cm (0.79 inches) to 4 meters (13.1 feet) with a resolution of about 3 mm.</a:t>
            </a:r>
            <a:endParaRPr lang="en-US" sz="1900"/>
          </a:p>
          <a:p>
            <a:pPr marL="0" indent="0">
              <a:buNone/>
            </a:pPr>
            <a:r>
              <a:rPr lang="en-US" sz="1900">
                <a:sym typeface="+mn-ea"/>
              </a:rPr>
              <a:t>  Accuracy: It provides reasonably accurate distance measurements, but the precision may decrease with highly reflective or irregularly shaped objects.</a:t>
            </a:r>
            <a:endParaRPr lang="en-US" sz="1900"/>
          </a:p>
          <a:p>
            <a:pPr marL="0" indent="0">
              <a:buNone/>
            </a:pPr>
            <a:r>
              <a:rPr lang="en-US" sz="1900">
                <a:sym typeface="+mn-ea"/>
              </a:rPr>
              <a:t>  Operating Angle: The sensor has a wide-angle of approximately 15 degrees, which can be important for some applications.</a:t>
            </a:r>
            <a:endParaRPr lang="en-US" sz="1900"/>
          </a:p>
          <a:p>
            <a:pPr marL="0" indent="0">
              <a:buNone/>
            </a:pPr>
            <a:r>
              <a:rPr lang="en-US" sz="1900">
                <a:sym typeface="+mn-ea"/>
              </a:rPr>
              <a:t>  Trigger and Echo Pins: The module has two pins, namely Trigger (Trig) and Echo, which are used for controlling the sensor and receiving measurement data, respectively.</a:t>
            </a:r>
            <a:endParaRPr lang="en-US" sz="1900"/>
          </a:p>
          <a:p>
            <a:endParaRPr lang="en-US" sz="1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1950" y="321945"/>
            <a:ext cx="11423650" cy="6233795"/>
          </a:xfrm>
        </p:spPr>
        <p:txBody>
          <a:bodyPr>
            <a:normAutofit/>
          </a:bodyPr>
          <a:p>
            <a:r>
              <a:rPr lang="en-US" sz="2400" b="1">
                <a:sym typeface="+mn-ea"/>
              </a:rPr>
              <a:t>Operating Procedure:</a:t>
            </a:r>
            <a:endParaRPr lang="en-US" sz="2400" b="1"/>
          </a:p>
          <a:p>
            <a:pPr marL="0" indent="0">
              <a:buNone/>
            </a:pPr>
            <a:r>
              <a:rPr lang="en-US" sz="2400">
                <a:sym typeface="+mn-ea"/>
              </a:rPr>
              <a:t>   To measure the distance, you need to send a short 10-microsecond pulse to the Trigger pin, which initiates the ultrasonic transmission.</a:t>
            </a:r>
            <a:endParaRPr lang="en-US" sz="2400"/>
          </a:p>
          <a:p>
            <a:pPr marL="0" indent="0">
              <a:buNone/>
            </a:pPr>
            <a:r>
              <a:rPr lang="en-US" sz="2400">
                <a:sym typeface="+mn-ea"/>
              </a:rPr>
              <a:t>  The sensor will then wait for the sound waves to bounce back. When it detects the reflected waves, it sets the Echo pin to a high state.</a:t>
            </a:r>
            <a:endParaRPr lang="en-US" sz="2400"/>
          </a:p>
          <a:p>
            <a:pPr marL="0" indent="0">
              <a:buNone/>
            </a:pPr>
            <a:r>
              <a:rPr lang="en-US" sz="2400">
                <a:sym typeface="+mn-ea"/>
              </a:rPr>
              <a:t>  You can measure the time between the trigger pulse and the moment when the Echo pin goes high to calculate the distance.</a:t>
            </a:r>
            <a:endParaRPr lang="en-US" sz="2400">
              <a:sym typeface="+mn-ea"/>
            </a:endParaRPr>
          </a:p>
          <a:p>
            <a:r>
              <a:rPr lang="en-US" sz="2400" b="1">
                <a:sym typeface="+mn-ea"/>
              </a:rPr>
              <a:t>Preprocessor Directives:</a:t>
            </a:r>
            <a:r>
              <a:rPr lang="en-US" sz="2400">
                <a:sym typeface="+mn-ea"/>
              </a:rPr>
              <a:t> </a:t>
            </a:r>
            <a:endParaRPr lang="en-US" sz="2400"/>
          </a:p>
          <a:p>
            <a:pPr marL="0" indent="0">
              <a:buNone/>
            </a:pPr>
            <a:r>
              <a:rPr lang="en-US" sz="2400">
                <a:sym typeface="+mn-ea"/>
              </a:rPr>
              <a:t> </a:t>
            </a:r>
            <a:r>
              <a:rPr lang="en-IN" altLang="en-US" sz="2400">
                <a:sym typeface="+mn-ea"/>
              </a:rPr>
              <a:t>         </a:t>
            </a:r>
            <a:r>
              <a:rPr lang="en-US" sz="2400">
                <a:sym typeface="+mn-ea"/>
              </a:rPr>
              <a:t>This section defines some constant values such as template ID, template name, and authentication token for connecting to the Blynk IoT platform.</a:t>
            </a:r>
            <a:endParaRPr lang="en-US" sz="2400"/>
          </a:p>
          <a:p>
            <a:r>
              <a:rPr lang="en-US" sz="2400" b="1">
                <a:sym typeface="+mn-ea"/>
              </a:rPr>
              <a:t>Library Inclusions: </a:t>
            </a:r>
            <a:endParaRPr lang="en-US" sz="2400" b="1"/>
          </a:p>
          <a:p>
            <a:pPr marL="0" indent="0">
              <a:buNone/>
            </a:pPr>
            <a:r>
              <a:rPr lang="en-IN" altLang="en-US" sz="2400">
                <a:sym typeface="+mn-ea"/>
              </a:rPr>
              <a:t>            </a:t>
            </a:r>
            <a:r>
              <a:rPr lang="en-US" sz="2400">
                <a:sym typeface="+mn-ea"/>
              </a:rPr>
              <a:t>The program includes several libraries for WiFi connectivity, Blynk integration, and client management.</a:t>
            </a:r>
            <a:endParaRPr lang="en-US" sz="2400"/>
          </a:p>
          <a:p>
            <a:pPr marL="0" indent="0">
              <a:buNone/>
            </a:pP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76225" y="300990"/>
            <a:ext cx="11596370" cy="6264910"/>
          </a:xfrm>
        </p:spPr>
        <p:txBody>
          <a:bodyPr>
            <a:normAutofit fontScale="90000"/>
          </a:bodyPr>
          <a:p>
            <a:r>
              <a:rPr lang="en-US" sz="2400" b="1">
                <a:sym typeface="+mn-ea"/>
              </a:rPr>
              <a:t>Global Variables: </a:t>
            </a:r>
            <a:endParaRPr lang="en-US" sz="2400" b="1"/>
          </a:p>
          <a:p>
            <a:pPr marL="0" indent="0">
              <a:buNone/>
            </a:pPr>
            <a:r>
              <a:rPr lang="en-IN" altLang="en-US" sz="2400">
                <a:sym typeface="+mn-ea"/>
              </a:rPr>
              <a:t>            </a:t>
            </a:r>
            <a:r>
              <a:rPr lang="en-US" sz="2400">
                <a:sym typeface="+mn-ea"/>
              </a:rPr>
              <a:t>Various global variables are declared, including variables for storing distances, counters for entering and leaving an area, and pin assignments for LEDs and ultrasonic sensors.</a:t>
            </a:r>
            <a:endParaRPr lang="en-US" sz="2400"/>
          </a:p>
          <a:p>
            <a:r>
              <a:rPr lang="en-US" sz="2400" b="1">
                <a:sym typeface="+mn-ea"/>
              </a:rPr>
              <a:t>BlynkTimer</a:t>
            </a:r>
            <a:r>
              <a:rPr lang="en-IN" altLang="en-US" sz="2400" b="1">
                <a:sym typeface="+mn-ea"/>
              </a:rPr>
              <a:t>:</a:t>
            </a:r>
            <a:endParaRPr lang="en-IN" altLang="en-US" sz="2400" b="1">
              <a:sym typeface="+mn-ea"/>
            </a:endParaRPr>
          </a:p>
          <a:p>
            <a:pPr marL="0" indent="0">
              <a:buNone/>
            </a:pPr>
            <a:r>
              <a:rPr lang="en-IN" altLang="en-US" sz="2400">
                <a:sym typeface="+mn-ea"/>
              </a:rPr>
              <a:t>            </a:t>
            </a:r>
            <a:r>
              <a:rPr lang="en-US" sz="2400">
                <a:sym typeface="+mn-ea"/>
              </a:rPr>
              <a:t>The program defines a BlynkTimer named "timer." This timer is used to trigger a specific function at regular intervals.</a:t>
            </a:r>
            <a:endParaRPr lang="en-US" sz="2400"/>
          </a:p>
          <a:p>
            <a:r>
              <a:rPr lang="en-US" sz="2400" b="1">
                <a:sym typeface="+mn-ea"/>
              </a:rPr>
              <a:t>Distance Measurement Functions:</a:t>
            </a:r>
            <a:r>
              <a:rPr lang="en-US" sz="2400">
                <a:sym typeface="+mn-ea"/>
              </a:rPr>
              <a:t> </a:t>
            </a:r>
            <a:endParaRPr lang="en-US" sz="2400"/>
          </a:p>
          <a:p>
            <a:pPr marL="0" indent="0">
              <a:buNone/>
            </a:pPr>
            <a:r>
              <a:rPr lang="en-IN" altLang="en-US" sz="2400">
                <a:sym typeface="+mn-ea"/>
              </a:rPr>
              <a:t>           </a:t>
            </a:r>
            <a:r>
              <a:rPr lang="en-US" sz="2400">
                <a:sym typeface="+mn-ea"/>
              </a:rPr>
              <a:t>Two functions, get_distance1() and get_distance2(), are defined for measuring distances using ultrasonic sensors. These functions are called periodically by the timer.</a:t>
            </a:r>
            <a:endParaRPr lang="en-US" sz="2400"/>
          </a:p>
          <a:p>
            <a:r>
              <a:rPr lang="en-US" sz="2400" b="1">
                <a:sym typeface="+mn-ea"/>
              </a:rPr>
              <a:t>myTimer Function:</a:t>
            </a:r>
            <a:endParaRPr lang="en-US" sz="2400" b="1"/>
          </a:p>
          <a:p>
            <a:pPr marL="0" indent="0">
              <a:buNone/>
            </a:pPr>
            <a:r>
              <a:rPr lang="en-IN" altLang="en-US" sz="2400">
                <a:sym typeface="+mn-ea"/>
              </a:rPr>
              <a:t>     </a:t>
            </a:r>
            <a:r>
              <a:rPr lang="en-US" sz="2400">
                <a:sym typeface="+mn-ea"/>
              </a:rPr>
              <a:t> This function is called at regular intervals by the Blynk timer. It performs the following tasks:</a:t>
            </a:r>
            <a:endParaRPr lang="en-US" sz="2400"/>
          </a:p>
          <a:p>
            <a:pPr marL="0" indent="0">
              <a:buNone/>
            </a:pPr>
            <a:r>
              <a:rPr lang="en-IN" altLang="en-US" sz="2400">
                <a:sym typeface="+mn-ea"/>
              </a:rPr>
              <a:t>      </a:t>
            </a:r>
            <a:r>
              <a:rPr lang="en-US" sz="2400">
                <a:sym typeface="+mn-ea"/>
              </a:rPr>
              <a:t>Measures the distance from the two ultrasonic sensors.</a:t>
            </a:r>
            <a:endParaRPr lang="en-US" sz="2400"/>
          </a:p>
          <a:p>
            <a:pPr marL="0" indent="0">
              <a:buNone/>
            </a:pPr>
            <a:r>
              <a:rPr lang="en-IN" altLang="en-US" sz="2400">
                <a:sym typeface="+mn-ea"/>
              </a:rPr>
              <a:t>      </a:t>
            </a:r>
            <a:r>
              <a:rPr lang="en-US" sz="2400">
                <a:sym typeface="+mn-ea"/>
              </a:rPr>
              <a:t>Compares the distances and keeps track of the number of times someone enters and leaves the area.</a:t>
            </a:r>
            <a:endParaRPr lang="en-US" sz="2400"/>
          </a:p>
          <a:p>
            <a:pPr marL="0" indent="0">
              <a:buNone/>
            </a:pPr>
            <a:r>
              <a:rPr lang="en-IN" altLang="en-US" sz="2400">
                <a:sym typeface="+mn-ea"/>
              </a:rPr>
              <a:t>      </a:t>
            </a:r>
            <a:r>
              <a:rPr lang="en-US" sz="2400">
                <a:sym typeface="+mn-ea"/>
              </a:rPr>
              <a:t>Updates the Blynk app with the counts and the current state of being inside or outside the area.</a:t>
            </a:r>
            <a:endParaRPr lang="en-US" sz="2400"/>
          </a:p>
          <a:p>
            <a:endParaRPr 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65430" y="234950"/>
            <a:ext cx="11736705" cy="6450965"/>
          </a:xfrm>
        </p:spPr>
        <p:txBody>
          <a:bodyPr>
            <a:normAutofit lnSpcReduction="20000"/>
          </a:bodyPr>
          <a:p>
            <a:r>
              <a:rPr lang="en-US" sz="2400" b="1">
                <a:sym typeface="+mn-ea"/>
              </a:rPr>
              <a:t>Setup Function: </a:t>
            </a:r>
            <a:endParaRPr lang="en-US" sz="2400" b="1"/>
          </a:p>
          <a:p>
            <a:pPr marL="0" indent="0">
              <a:buNone/>
            </a:pPr>
            <a:r>
              <a:rPr lang="en-IN" altLang="en-US" sz="2400">
                <a:sym typeface="+mn-ea"/>
              </a:rPr>
              <a:t>      </a:t>
            </a:r>
            <a:r>
              <a:rPr lang="en-US" sz="2400">
                <a:sym typeface="+mn-ea"/>
              </a:rPr>
              <a:t>In the setup() function, the program initializes the following:</a:t>
            </a:r>
            <a:endParaRPr lang="en-US" sz="2400"/>
          </a:p>
          <a:p>
            <a:pPr marL="0" indent="0">
              <a:buNone/>
            </a:pPr>
            <a:r>
              <a:rPr lang="en-IN" altLang="en-US" sz="2400">
                <a:sym typeface="+mn-ea"/>
              </a:rPr>
              <a:t>      </a:t>
            </a:r>
            <a:r>
              <a:rPr lang="en-US" sz="2400">
                <a:sym typeface="+mn-ea"/>
              </a:rPr>
              <a:t>Serial communication for debugging.</a:t>
            </a:r>
            <a:endParaRPr lang="en-US" sz="2400"/>
          </a:p>
          <a:p>
            <a:pPr marL="0" indent="0">
              <a:buNone/>
            </a:pPr>
            <a:r>
              <a:rPr lang="en-IN" altLang="en-US" sz="2400">
                <a:sym typeface="+mn-ea"/>
              </a:rPr>
              <a:t>      </a:t>
            </a:r>
            <a:r>
              <a:rPr lang="en-US" sz="2400">
                <a:sym typeface="+mn-ea"/>
              </a:rPr>
              <a:t>Pin modes for LED and ultrasonic sensor trigger and echo pins.</a:t>
            </a:r>
            <a:endParaRPr lang="en-US" sz="2400"/>
          </a:p>
          <a:p>
            <a:pPr marL="0" indent="0">
              <a:buNone/>
            </a:pPr>
            <a:r>
              <a:rPr lang="en-IN" altLang="en-US" sz="2400">
                <a:sym typeface="+mn-ea"/>
              </a:rPr>
              <a:t>      </a:t>
            </a:r>
            <a:r>
              <a:rPr lang="en-US" sz="2400">
                <a:sym typeface="+mn-ea"/>
              </a:rPr>
              <a:t>Sets the timer interval for calling the myTimer function every 1000 milliseconds (1 second).</a:t>
            </a:r>
            <a:endParaRPr lang="en-US" sz="2400"/>
          </a:p>
          <a:p>
            <a:r>
              <a:rPr lang="en-US" sz="2400" b="1">
                <a:sym typeface="+mn-ea"/>
              </a:rPr>
              <a:t>Loop Function:</a:t>
            </a:r>
            <a:endParaRPr lang="en-US" sz="2400" b="1"/>
          </a:p>
          <a:p>
            <a:pPr marL="0" indent="0">
              <a:buNone/>
            </a:pPr>
            <a:r>
              <a:rPr lang="en-IN" altLang="en-US" sz="2400">
                <a:sym typeface="+mn-ea"/>
              </a:rPr>
              <a:t>    </a:t>
            </a:r>
            <a:r>
              <a:rPr lang="en-US" sz="2400">
                <a:sym typeface="+mn-ea"/>
              </a:rPr>
              <a:t> The loop() function mainly runs the Blynk and timer services by calling Blynk.run() and timer.run().</a:t>
            </a:r>
            <a:endParaRPr lang="en-US" sz="2400">
              <a:sym typeface="+mn-ea"/>
            </a:endParaRPr>
          </a:p>
          <a:p>
            <a:pPr>
              <a:buFont typeface="Arial" panose="020B0604020202020204" pitchFamily="34" charset="0"/>
              <a:buChar char="•"/>
            </a:pPr>
            <a:r>
              <a:rPr lang="en-US" sz="2400" b="1">
                <a:sym typeface="+mn-ea"/>
              </a:rPr>
              <a:t>Blynk Template Settings:</a:t>
            </a:r>
            <a:r>
              <a:rPr lang="en-US" sz="2400">
                <a:sym typeface="+mn-ea"/>
              </a:rPr>
              <a:t> </a:t>
            </a:r>
            <a:endParaRPr lang="en-US" sz="2400"/>
          </a:p>
          <a:p>
            <a:pPr marL="0" indent="0">
              <a:buFont typeface="Arial" panose="020B0604020202020204" pitchFamily="34" charset="0"/>
              <a:buNone/>
            </a:pPr>
            <a:r>
              <a:rPr lang="en-IN" altLang="en-US" sz="2400">
                <a:sym typeface="+mn-ea"/>
              </a:rPr>
              <a:t>     </a:t>
            </a:r>
            <a:r>
              <a:rPr lang="en-US" sz="2400">
                <a:sym typeface="+mn-ea"/>
              </a:rPr>
              <a:t>The program starts by defining three constants, BLYNK_TEMPLATE_ID, BLYNK_TEMPLATE_NAME, and BLYNK_AUTH_TOKEN. These are related to the Blynk IoT platform and are used for authenticating and connecting your device to the Blynk cloud service.</a:t>
            </a:r>
            <a:endParaRPr lang="en-US" sz="2400"/>
          </a:p>
          <a:p>
            <a:r>
              <a:rPr lang="en-US" sz="2400" b="1">
                <a:sym typeface="+mn-ea"/>
              </a:rPr>
              <a:t>Variable Declarations:</a:t>
            </a:r>
            <a:r>
              <a:rPr lang="en-US" sz="2400">
                <a:sym typeface="+mn-ea"/>
              </a:rPr>
              <a:t> </a:t>
            </a:r>
            <a:endParaRPr lang="en-US" sz="2400"/>
          </a:p>
          <a:p>
            <a:pPr marL="0" indent="0">
              <a:buNone/>
            </a:pPr>
            <a:r>
              <a:rPr lang="en-IN" altLang="en-US" sz="2400">
                <a:sym typeface="+mn-ea"/>
              </a:rPr>
              <a:t>       </a:t>
            </a:r>
            <a:r>
              <a:rPr lang="en-US" sz="2400">
                <a:sym typeface="+mn-ea"/>
              </a:rPr>
              <a:t>The code declares various integer variables to store the duration and distance measurements from two distance sensors (distance1 and distance2). It also tracks the number of objects that have entered, left, and are currently inside the monitored area.</a:t>
            </a:r>
            <a:endParaRPr lang="en-US" sz="2400"/>
          </a:p>
          <a:p>
            <a:endParaRPr 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46380"/>
            <a:ext cx="10515600" cy="5930900"/>
          </a:xfrm>
        </p:spPr>
        <p:txBody>
          <a:bodyPr/>
          <a:p>
            <a:r>
              <a:rPr lang="en-US" sz="2400" b="1">
                <a:sym typeface="+mn-ea"/>
              </a:rPr>
              <a:t>Pin Definitions:</a:t>
            </a:r>
            <a:r>
              <a:rPr lang="en-US" sz="2400">
                <a:sym typeface="+mn-ea"/>
              </a:rPr>
              <a:t> </a:t>
            </a:r>
            <a:endParaRPr lang="en-US" sz="2400"/>
          </a:p>
          <a:p>
            <a:pPr marL="0" indent="0">
              <a:buNone/>
            </a:pPr>
            <a:r>
              <a:rPr lang="en-IN" altLang="en-US" sz="2400">
                <a:sym typeface="+mn-ea"/>
              </a:rPr>
              <a:t>        </a:t>
            </a:r>
            <a:r>
              <a:rPr lang="en-US" sz="2400">
                <a:sym typeface="+mn-ea"/>
              </a:rPr>
              <a:t>The program defines several constants that represent the pins for LEDs, trigger and echo pins of two ultrasonic distance sensors (HC-SR04). For example, LED is set to pin 2, and PIN_TRIG1, PIN_ECHO1, PIN_TRIG2, and PIN_ECHO2 correspond to pins 15, 14, 13, and 12, respectively.</a:t>
            </a:r>
            <a:endParaRPr lang="en-US" sz="2400"/>
          </a:p>
          <a:p>
            <a:r>
              <a:rPr lang="en-US" sz="2400" b="1">
                <a:sym typeface="+mn-ea"/>
              </a:rPr>
              <a:t>Wi-Fi and Blynk Configuration: </a:t>
            </a:r>
            <a:endParaRPr lang="en-US" sz="2400" b="1"/>
          </a:p>
          <a:p>
            <a:pPr marL="0" indent="0">
              <a:buNone/>
            </a:pPr>
            <a:r>
              <a:rPr lang="en-IN" altLang="en-US" sz="2400">
                <a:sym typeface="+mn-ea"/>
              </a:rPr>
              <a:t>       </a:t>
            </a:r>
            <a:r>
              <a:rPr lang="en-US" sz="2400">
                <a:sym typeface="+mn-ea"/>
              </a:rPr>
              <a:t>The setup() function initializes serial communication, sets the pin modes, and connects to the Wi-Fi network using the specified SSID and password. It then establishes a connection with the Blynk cloud using the provided authentication token, SSID, and password.</a:t>
            </a:r>
            <a:endParaRPr lang="en-US" sz="2400"/>
          </a:p>
          <a:p>
            <a:endParaRPr 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9695" y="0"/>
            <a:ext cx="2672080" cy="737235"/>
          </a:xfrm>
          <a:prstGeom prst="rect">
            <a:avLst/>
          </a:prstGeom>
          <a:noFill/>
        </p:spPr>
        <p:txBody>
          <a:bodyPr wrap="square" rtlCol="0">
            <a:spAutoFit/>
          </a:bodyPr>
          <a:p>
            <a:r>
              <a:rPr lang="en-IN" altLang="en-US" sz="4200"/>
              <a:t>C++</a:t>
            </a:r>
            <a:endParaRPr lang="en-IN" altLang="en-US" sz="4200"/>
          </a:p>
        </p:txBody>
      </p:sp>
      <p:pic>
        <p:nvPicPr>
          <p:cNvPr id="6" name="Content Placeholder 5" descr="Screenshot 2023-10-17 213555"/>
          <p:cNvPicPr>
            <a:picLocks noChangeAspect="1"/>
          </p:cNvPicPr>
          <p:nvPr>
            <p:ph idx="1"/>
          </p:nvPr>
        </p:nvPicPr>
        <p:blipFill>
          <a:blip r:embed="rId1"/>
          <a:stretch>
            <a:fillRect/>
          </a:stretch>
        </p:blipFill>
        <p:spPr>
          <a:xfrm>
            <a:off x="0" y="830580"/>
            <a:ext cx="12192635" cy="58229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3-10-18 175938"/>
          <p:cNvPicPr>
            <a:picLocks noChangeAspect="1"/>
          </p:cNvPicPr>
          <p:nvPr>
            <p:ph idx="1"/>
          </p:nvPr>
        </p:nvPicPr>
        <p:blipFill>
          <a:blip r:embed="rId1"/>
          <a:srcRect t="13915"/>
          <a:stretch>
            <a:fillRect/>
          </a:stretch>
        </p:blipFill>
        <p:spPr>
          <a:xfrm>
            <a:off x="0" y="0"/>
            <a:ext cx="12192635" cy="68580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Screenshot 2023-10-18 180000"/>
          <p:cNvPicPr>
            <a:picLocks noChangeAspect="1"/>
          </p:cNvPicPr>
          <p:nvPr>
            <p:ph idx="1"/>
          </p:nvPr>
        </p:nvPicPr>
        <p:blipFill>
          <a:blip r:embed="rId1"/>
          <a:srcRect t="13843"/>
          <a:stretch>
            <a:fillRect/>
          </a:stretch>
        </p:blipFill>
        <p:spPr>
          <a:xfrm>
            <a:off x="-635" y="0"/>
            <a:ext cx="12192635" cy="685800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000" cy="6857365"/>
          </a:xfrm>
        </p:spPr>
        <p:txBody>
          <a:bodyPr/>
          <a:p>
            <a:pPr marL="0" indent="0">
              <a:buNone/>
            </a:pPr>
            <a:endParaRPr lang="en-US"/>
          </a:p>
          <a:p>
            <a:pPr marL="0" indent="0">
              <a:buNone/>
            </a:pPr>
            <a:endParaRPr lang="en-US"/>
          </a:p>
        </p:txBody>
      </p:sp>
      <p:sp>
        <p:nvSpPr>
          <p:cNvPr id="4" name="Text Box 3"/>
          <p:cNvSpPr txBox="1"/>
          <p:nvPr/>
        </p:nvSpPr>
        <p:spPr>
          <a:xfrm>
            <a:off x="304800" y="1270"/>
            <a:ext cx="4064000" cy="663575"/>
          </a:xfrm>
          <a:prstGeom prst="rect">
            <a:avLst/>
          </a:prstGeom>
          <a:noFill/>
        </p:spPr>
        <p:txBody>
          <a:bodyPr wrap="square" rtlCol="0">
            <a:noAutofit/>
          </a:bodyPr>
          <a:p>
            <a:r>
              <a:rPr lang="en-IN" altLang="en-US" sz="4200"/>
              <a:t>PYTHON</a:t>
            </a:r>
            <a:endParaRPr lang="en-IN" altLang="en-US" sz="4200"/>
          </a:p>
        </p:txBody>
      </p:sp>
      <p:pic>
        <p:nvPicPr>
          <p:cNvPr id="5" name="Content Placeholder 2" descr="program 1"/>
          <p:cNvPicPr>
            <a:picLocks noChangeAspect="1"/>
          </p:cNvPicPr>
          <p:nvPr/>
        </p:nvPicPr>
        <p:blipFill>
          <a:blip r:embed="rId1"/>
          <a:stretch>
            <a:fillRect/>
          </a:stretch>
        </p:blipFill>
        <p:spPr>
          <a:xfrm>
            <a:off x="0" y="561975"/>
            <a:ext cx="6513830" cy="6295390"/>
          </a:xfrm>
          <a:prstGeom prst="rect">
            <a:avLst/>
          </a:prstGeom>
          <a:noFill/>
          <a:ln w="9525">
            <a:noFill/>
          </a:ln>
        </p:spPr>
      </p:pic>
      <p:pic>
        <p:nvPicPr>
          <p:cNvPr id="6" name="Picture 5" descr="output"/>
          <p:cNvPicPr>
            <a:picLocks noChangeAspect="1"/>
          </p:cNvPicPr>
          <p:nvPr/>
        </p:nvPicPr>
        <p:blipFill>
          <a:blip r:embed="rId2"/>
          <a:stretch>
            <a:fillRect/>
          </a:stretch>
        </p:blipFill>
        <p:spPr>
          <a:xfrm>
            <a:off x="6513830" y="562610"/>
            <a:ext cx="5677535" cy="62953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program 2"/>
          <p:cNvPicPr>
            <a:picLocks noChangeAspect="1"/>
          </p:cNvPicPr>
          <p:nvPr>
            <p:ph idx="1"/>
          </p:nvPr>
        </p:nvPicPr>
        <p:blipFill>
          <a:blip r:embed="rId1"/>
          <a:srcRect t="9380"/>
          <a:stretch>
            <a:fillRect/>
          </a:stretch>
        </p:blipFill>
        <p:spPr>
          <a:xfrm>
            <a:off x="0" y="0"/>
            <a:ext cx="7089775" cy="6350000"/>
          </a:xfrm>
          <a:prstGeom prst="rect">
            <a:avLst/>
          </a:prstGeom>
          <a:noFill/>
          <a:ln w="9525">
            <a:noFill/>
          </a:ln>
        </p:spPr>
      </p:pic>
      <p:pic>
        <p:nvPicPr>
          <p:cNvPr id="6" name="Picture 5" descr="output"/>
          <p:cNvPicPr>
            <a:picLocks noChangeAspect="1"/>
          </p:cNvPicPr>
          <p:nvPr/>
        </p:nvPicPr>
        <p:blipFill>
          <a:blip r:embed="rId2"/>
          <a:stretch>
            <a:fillRect/>
          </a:stretch>
        </p:blipFill>
        <p:spPr>
          <a:xfrm>
            <a:off x="6813550" y="0"/>
            <a:ext cx="5378450" cy="69322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143510"/>
            <a:ext cx="12192635" cy="6715125"/>
          </a:xfrm>
        </p:spPr>
        <p:txBody>
          <a:bodyPr>
            <a:normAutofit lnSpcReduction="20000"/>
          </a:bodyPr>
          <a:p>
            <a:pPr marL="0" indent="0">
              <a:buNone/>
            </a:pPr>
            <a:r>
              <a:rPr lang="en-IN" altLang="en-US" sz="2400" b="1">
                <a:sym typeface="+mn-ea"/>
              </a:rPr>
              <a:t>DEVELOPEMENT:-</a:t>
            </a:r>
            <a:endParaRPr lang="en-IN" altLang="en-US" sz="2400" b="1"/>
          </a:p>
          <a:p>
            <a:pPr algn="l">
              <a:buFont typeface="Arial" panose="020B0604020202020204" pitchFamily="34" charset="0"/>
            </a:pPr>
            <a:r>
              <a:rPr lang="en-IN" altLang="en-US" sz="2400" b="1">
                <a:sym typeface="+mn-ea"/>
              </a:rPr>
              <a:t>INTRODUCTION</a:t>
            </a:r>
            <a:endParaRPr lang="en-IN" altLang="en-US" sz="2400" b="1"/>
          </a:p>
          <a:p>
            <a:pPr marL="342900" indent="-342900" algn="l">
              <a:buFont typeface="Arial" panose="020B0604020202020204" pitchFamily="34" charset="0"/>
              <a:buChar char="•"/>
            </a:pPr>
            <a:r>
              <a:rPr lang="en-IN" altLang="en-US" sz="2400">
                <a:sym typeface="+mn-ea"/>
              </a:rPr>
              <a:t>Public transportation optimization refers to the process of improving the efficiency, effectiveness, and overall quality of public transportation systems to better meet the needs of passengers and the communities they serve. This optimization involves a combination of strategies and techniques aimed at enhancing the reliability, convenience, cost-effectiveness, and sustainability of public transit services. The primary goal is to make public transportation a more attractive and competitive option compared to private vehicle use, thereby reducing traffic congestion, minimizing environmental impact, and providing better mobility options.</a:t>
            </a:r>
            <a:endParaRPr lang="en-IN" altLang="en-US" sz="2400"/>
          </a:p>
          <a:p>
            <a:pPr marL="342900" indent="-342900" algn="l">
              <a:buFont typeface="Arial" panose="020B0604020202020204" pitchFamily="34" charset="0"/>
              <a:buChar char="•"/>
            </a:pPr>
            <a:r>
              <a:rPr lang="en-IN" altLang="en-US" sz="2400">
                <a:sym typeface="+mn-ea"/>
              </a:rPr>
              <a:t>Uses of Public Transportation Optimization:</a:t>
            </a:r>
            <a:endParaRPr lang="en-IN" altLang="en-US" sz="2400"/>
          </a:p>
          <a:p>
            <a:pPr marL="2171700" lvl="4" indent="-342900" algn="l">
              <a:buFont typeface="Wingdings" panose="05000000000000000000" charset="0"/>
              <a:buChar char="Ø"/>
            </a:pPr>
            <a:r>
              <a:rPr lang="en-IN" altLang="en-US" sz="2400">
                <a:sym typeface="+mn-ea"/>
              </a:rPr>
              <a:t>Reducing Traffic Congestion</a:t>
            </a:r>
            <a:endParaRPr lang="en-IN" altLang="en-US" sz="2400"/>
          </a:p>
          <a:p>
            <a:pPr marL="2171700" lvl="4" indent="-342900" algn="l">
              <a:buFont typeface="Wingdings" panose="05000000000000000000" charset="0"/>
              <a:buChar char="Ø"/>
            </a:pPr>
            <a:r>
              <a:rPr lang="en-IN" altLang="en-US" sz="2400">
                <a:sym typeface="+mn-ea"/>
              </a:rPr>
              <a:t>Enhanced Reliability</a:t>
            </a:r>
            <a:endParaRPr lang="en-IN" altLang="en-US" sz="2400"/>
          </a:p>
          <a:p>
            <a:pPr marL="2171700" lvl="4" indent="-342900" algn="l">
              <a:buFont typeface="Wingdings" panose="05000000000000000000" charset="0"/>
              <a:buChar char="Ø"/>
            </a:pPr>
            <a:r>
              <a:rPr lang="en-IN" altLang="en-US" sz="2400">
                <a:sym typeface="+mn-ea"/>
              </a:rPr>
              <a:t>User-Friendly Experience</a:t>
            </a:r>
            <a:endParaRPr lang="en-IN" altLang="en-US" sz="2400"/>
          </a:p>
          <a:p>
            <a:pPr marL="2171700" lvl="4" indent="-342900" algn="l">
              <a:buFont typeface="Wingdings" panose="05000000000000000000" charset="0"/>
              <a:buChar char="Ø"/>
            </a:pPr>
            <a:r>
              <a:rPr lang="en-IN" altLang="en-US" sz="2400">
                <a:sym typeface="+mn-ea"/>
              </a:rPr>
              <a:t>Economic Development</a:t>
            </a:r>
            <a:endParaRPr lang="en-IN" altLang="en-US" sz="2400"/>
          </a:p>
          <a:p>
            <a:pPr marL="2171700" lvl="4" indent="-342900" algn="l">
              <a:buFont typeface="Wingdings" panose="05000000000000000000" charset="0"/>
              <a:buChar char="Ø"/>
            </a:pPr>
            <a:r>
              <a:rPr lang="en-IN" altLang="en-US" sz="2400">
                <a:sym typeface="+mn-ea"/>
              </a:rPr>
              <a:t>Public Safety</a:t>
            </a:r>
            <a:endParaRPr lang="en-IN" altLang="en-US" sz="2400"/>
          </a:p>
          <a:p>
            <a:pPr lvl="4" algn="l">
              <a:buFont typeface="Wingdings" panose="05000000000000000000" charset="0"/>
            </a:pPr>
            <a:endParaRPr lang="en-IN" altLang="en-US" sz="2400"/>
          </a:p>
          <a:p>
            <a:endParaRPr lang="en-US"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61620" y="171450"/>
            <a:ext cx="11677650" cy="6409690"/>
          </a:xfrm>
        </p:spPr>
        <p:txBody>
          <a:bodyPr>
            <a:noAutofit/>
          </a:bodyPr>
          <a:p>
            <a:pPr marL="0" indent="0">
              <a:buNone/>
            </a:pPr>
            <a:r>
              <a:rPr lang="en-IN" altLang="en-US" sz="2400" b="1">
                <a:sym typeface="+mn-ea"/>
              </a:rPr>
              <a:t>CODE:</a:t>
            </a:r>
            <a:endParaRPr lang="en-IN" altLang="en-US" sz="2400" b="1"/>
          </a:p>
          <a:p>
            <a:pPr marL="0" indent="0">
              <a:buNone/>
            </a:pPr>
            <a:r>
              <a:rPr lang="en-IN" altLang="en-US" sz="2400">
                <a:sym typeface="+mn-ea"/>
              </a:rPr>
              <a:t> &lt;!DOCTYPE html&gt;</a:t>
            </a:r>
            <a:endParaRPr lang="en-IN" altLang="en-US" sz="2400"/>
          </a:p>
          <a:p>
            <a:pPr marL="0" indent="0">
              <a:buNone/>
            </a:pPr>
            <a:r>
              <a:rPr lang="en-IN" altLang="en-US" sz="2400">
                <a:sym typeface="+mn-ea"/>
              </a:rPr>
              <a:t>&lt;html lang="en"&gt;</a:t>
            </a:r>
            <a:endParaRPr lang="en-IN" altLang="en-US" sz="2400"/>
          </a:p>
          <a:p>
            <a:pPr marL="0" indent="0">
              <a:buNone/>
            </a:pPr>
            <a:r>
              <a:rPr lang="en-IN" altLang="en-US" sz="2400">
                <a:sym typeface="+mn-ea"/>
              </a:rPr>
              <a:t>&lt;head&gt;</a:t>
            </a:r>
            <a:endParaRPr lang="en-IN" altLang="en-US" sz="2400"/>
          </a:p>
          <a:p>
            <a:pPr marL="0" indent="0">
              <a:buNone/>
            </a:pPr>
            <a:r>
              <a:rPr lang="en-IN" altLang="en-US" sz="2400">
                <a:sym typeface="+mn-ea"/>
              </a:rPr>
              <a:t>    &lt;meta charset="UTF-8"&gt;</a:t>
            </a:r>
            <a:endParaRPr lang="en-IN" altLang="en-US" sz="2400"/>
          </a:p>
          <a:p>
            <a:pPr marL="0" indent="0">
              <a:buNone/>
            </a:pPr>
            <a:r>
              <a:rPr lang="en-IN" altLang="en-US" sz="2400">
                <a:sym typeface="+mn-ea"/>
              </a:rPr>
              <a:t>    &lt;meta name="viewport" content="width=device-width, initial-scale=1.0"&gt;</a:t>
            </a:r>
            <a:endParaRPr lang="en-IN" altLang="en-US" sz="2400"/>
          </a:p>
          <a:p>
            <a:pPr marL="0" indent="0">
              <a:buNone/>
            </a:pPr>
            <a:r>
              <a:rPr lang="en-IN" altLang="en-US" sz="2400">
                <a:sym typeface="+mn-ea"/>
              </a:rPr>
              <a:t>    &lt;title&gt;Public Transportation Optimization&lt;/title&gt;</a:t>
            </a:r>
            <a:endParaRPr lang="en-IN" altLang="en-US" sz="2400"/>
          </a:p>
          <a:p>
            <a:pPr marL="0" indent="0">
              <a:buNone/>
            </a:pPr>
            <a:r>
              <a:rPr lang="en-IN" altLang="en-US" sz="2400">
                <a:sym typeface="+mn-ea"/>
              </a:rPr>
              <a:t>    &lt;style&gt;</a:t>
            </a:r>
            <a:endParaRPr lang="en-IN" altLang="en-US" sz="2400"/>
          </a:p>
          <a:p>
            <a:pPr marL="0" indent="0">
              <a:buNone/>
            </a:pPr>
            <a:r>
              <a:rPr lang="en-IN" altLang="en-US" sz="2400">
                <a:sym typeface="+mn-ea"/>
              </a:rPr>
              <a:t>        body {</a:t>
            </a:r>
            <a:endParaRPr lang="en-IN" altLang="en-US" sz="2400"/>
          </a:p>
          <a:p>
            <a:pPr marL="0" indent="0">
              <a:buNone/>
            </a:pPr>
            <a:r>
              <a:rPr lang="en-IN" altLang="en-US" sz="2400">
                <a:sym typeface="+mn-ea"/>
              </a:rPr>
              <a:t>            background-image: url('https://tse3.mm.bing.net/th?id=OIP.4X4MucxVgx6Xo3VNzFyUnQHaFj&amp;pid=Api&amp;P=0&amp;h=180s');</a:t>
            </a:r>
            <a:endParaRPr lang="en-IN" altLang="en-US" sz="2400"/>
          </a:p>
          <a:p>
            <a:pPr marL="0" indent="0">
              <a:buNone/>
            </a:pPr>
            <a:r>
              <a:rPr lang="en-IN" altLang="en-US" sz="2400">
                <a:sym typeface="+mn-ea"/>
              </a:rPr>
              <a:t>            background-size: cover;</a:t>
            </a:r>
            <a:endParaRPr lang="en-IN" altLang="en-US" sz="2400"/>
          </a:p>
          <a:p>
            <a:pPr marL="0" indent="0">
              <a:buNone/>
            </a:pPr>
            <a:r>
              <a:rPr lang="en-IN" altLang="en-US" sz="2400">
                <a:sym typeface="+mn-ea"/>
              </a:rPr>
              <a:t>            background-repeat: no-repeat;</a:t>
            </a:r>
            <a:endParaRPr lang="en-IN" altLang="en-US" sz="2400"/>
          </a:p>
          <a:p>
            <a:pPr marL="0" indent="0">
              <a:buNone/>
            </a:pPr>
            <a:r>
              <a:rPr lang="en-IN" altLang="en-US" sz="2400">
                <a:sym typeface="+mn-ea"/>
              </a:rPr>
              <a:t>        }</a:t>
            </a:r>
            <a:endParaRPr lang="en-IN" altLang="en-US" sz="2400"/>
          </a:p>
          <a:p>
            <a:pPr marL="0" indent="0">
              <a:buNone/>
            </a:pPr>
            <a:endParaRPr lang="en-IN" altLang="en-US" sz="13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43205" y="300990"/>
            <a:ext cx="11650980" cy="6351905"/>
          </a:xfrm>
        </p:spPr>
        <p:txBody>
          <a:bodyPr>
            <a:normAutofit fontScale="85000" lnSpcReduction="20000"/>
          </a:bodyPr>
          <a:p>
            <a:pPr marL="0" indent="0">
              <a:buNone/>
            </a:pPr>
            <a:r>
              <a:rPr lang="en-IN" altLang="en-US" sz="2400">
                <a:sym typeface="+mn-ea"/>
              </a:rPr>
              <a:t> </a:t>
            </a:r>
            <a:r>
              <a:rPr lang="en-IN" altLang="en-US" sz="2825">
                <a:sym typeface="+mn-ea"/>
              </a:rPr>
              <a:t>&lt;/style&gt;</a:t>
            </a:r>
            <a:endParaRPr lang="en-IN" altLang="en-US" sz="2825"/>
          </a:p>
          <a:p>
            <a:pPr marL="0" indent="0">
              <a:buNone/>
            </a:pPr>
            <a:r>
              <a:rPr lang="en-IN" altLang="en-US" sz="2825">
                <a:sym typeface="+mn-ea"/>
              </a:rPr>
              <a:t>&lt;/head&gt;</a:t>
            </a:r>
            <a:endParaRPr lang="en-IN" altLang="en-US" sz="2825"/>
          </a:p>
          <a:p>
            <a:pPr marL="0" indent="0">
              <a:buNone/>
            </a:pPr>
            <a:r>
              <a:rPr lang="en-IN" altLang="en-US" sz="2825">
                <a:sym typeface="+mn-ea"/>
              </a:rPr>
              <a:t>&lt;body&gt;</a:t>
            </a:r>
            <a:endParaRPr lang="en-IN" altLang="en-US" sz="2825"/>
          </a:p>
          <a:p>
            <a:pPr marL="0" indent="0">
              <a:buNone/>
            </a:pPr>
            <a:r>
              <a:rPr lang="en-IN" altLang="en-US" sz="2825">
                <a:sym typeface="+mn-ea"/>
              </a:rPr>
              <a:t>    &lt;header&gt;</a:t>
            </a:r>
            <a:endParaRPr lang="en-IN" altLang="en-US" sz="2825"/>
          </a:p>
          <a:p>
            <a:pPr marL="0" indent="0">
              <a:buNone/>
            </a:pPr>
            <a:r>
              <a:rPr lang="en-IN" altLang="en-US" sz="2825">
                <a:sym typeface="+mn-ea"/>
              </a:rPr>
              <a:t>        &lt;h1&gt;Public Transportation Optimization&lt;/h1&gt;</a:t>
            </a:r>
            <a:endParaRPr lang="en-IN" altLang="en-US" sz="2825"/>
          </a:p>
          <a:p>
            <a:pPr marL="0" indent="0">
              <a:buNone/>
            </a:pPr>
            <a:r>
              <a:rPr lang="en-IN" altLang="en-US" sz="2825">
                <a:sym typeface="+mn-ea"/>
              </a:rPr>
              <a:t>    &lt;/header&gt;</a:t>
            </a:r>
            <a:endParaRPr lang="en-IN" altLang="en-US" sz="2825"/>
          </a:p>
          <a:p>
            <a:pPr marL="0" indent="0">
              <a:buNone/>
            </a:pPr>
            <a:endParaRPr lang="en-IN" altLang="en-US" sz="2825"/>
          </a:p>
          <a:p>
            <a:pPr marL="0" indent="0">
              <a:buNone/>
            </a:pPr>
            <a:r>
              <a:rPr lang="en-IN" altLang="en-US" sz="2825">
                <a:sym typeface="+mn-ea"/>
              </a:rPr>
              <a:t>    &lt;nav&gt;</a:t>
            </a:r>
            <a:endParaRPr lang="en-IN" altLang="en-US" sz="2825"/>
          </a:p>
          <a:p>
            <a:pPr marL="0" indent="0">
              <a:buNone/>
            </a:pPr>
            <a:r>
              <a:rPr lang="en-IN" altLang="en-US" sz="2825">
                <a:sym typeface="+mn-ea"/>
              </a:rPr>
              <a:t>        &lt;ul&gt;</a:t>
            </a:r>
            <a:endParaRPr lang="en-IN" altLang="en-US" sz="2825"/>
          </a:p>
          <a:p>
            <a:pPr marL="0" indent="0">
              <a:buNone/>
            </a:pPr>
            <a:r>
              <a:rPr lang="en-IN" altLang="en-US" sz="2825">
                <a:sym typeface="+mn-ea"/>
              </a:rPr>
              <a:t>            &lt;li&gt;&lt;a href="C:\Users\rishe\Desktop\phase 4\gps.html"&gt;GPS&lt;/a&gt;&lt;/li&gt;</a:t>
            </a:r>
            <a:endParaRPr lang="en-IN" altLang="en-US" sz="2825"/>
          </a:p>
          <a:p>
            <a:pPr marL="0" indent="0">
              <a:buNone/>
            </a:pPr>
            <a:r>
              <a:rPr lang="en-IN" altLang="en-US" sz="2825">
                <a:sym typeface="+mn-ea"/>
              </a:rPr>
              <a:t>            &lt;li&gt;&lt;a href="C:\Users\rishe\Desktop\phase 4\weight_measuring.html"&gt;Weight Measuring&lt;/a&gt;&lt;/li&gt;</a:t>
            </a:r>
            <a:endParaRPr lang="en-IN" altLang="en-US" sz="2825"/>
          </a:p>
          <a:p>
            <a:pPr marL="0" indent="0">
              <a:buNone/>
            </a:pPr>
            <a:r>
              <a:rPr lang="en-IN" altLang="en-US" sz="2825">
                <a:sym typeface="+mn-ea"/>
              </a:rPr>
              <a:t>        &lt;/ul&gt;</a:t>
            </a:r>
            <a:endParaRPr lang="en-IN" altLang="en-US" sz="2825"/>
          </a:p>
          <a:p>
            <a:pPr marL="0" indent="0">
              <a:buNone/>
            </a:pPr>
            <a:r>
              <a:rPr lang="en-IN" altLang="en-US" sz="2825">
                <a:sym typeface="+mn-ea"/>
              </a:rPr>
              <a:t>    &lt;/nav&gt;</a:t>
            </a:r>
            <a:endParaRPr lang="en-IN" altLang="en-US" sz="2825"/>
          </a:p>
          <a:p>
            <a:pPr marL="0" indent="0">
              <a:buNone/>
            </a:pPr>
            <a:endParaRPr lang="en-IN" altLang="en-US" sz="2825"/>
          </a:p>
          <a:p>
            <a:pPr marL="0" indent="0">
              <a:buNone/>
            </a:pPr>
            <a:r>
              <a:rPr lang="en-IN" altLang="en-US" sz="2825">
                <a:sym typeface="+mn-ea"/>
              </a:rPr>
              <a:t>    &lt;main&gt;</a:t>
            </a:r>
            <a:endParaRPr lang="en-IN" altLang="en-US" sz="2825"/>
          </a:p>
          <a:p>
            <a:pPr marL="0" indent="0">
              <a:buNone/>
            </a:pPr>
            <a:endParaRPr lang="en-US" sz="2825"/>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635" cy="6859270"/>
          </a:xfrm>
        </p:spPr>
        <p:txBody>
          <a:bodyPr/>
          <a:p>
            <a:pPr marL="0" indent="0">
              <a:buNone/>
            </a:pPr>
            <a:r>
              <a:rPr lang="en-IN" altLang="en-US" sz="2400">
                <a:sym typeface="+mn-ea"/>
              </a:rPr>
              <a:t>&lt;section&gt;</a:t>
            </a:r>
            <a:endParaRPr lang="en-IN" altLang="en-US" sz="2400"/>
          </a:p>
          <a:p>
            <a:pPr marL="0" indent="0">
              <a:buNone/>
            </a:pPr>
            <a:r>
              <a:rPr lang="en-IN" altLang="en-US" sz="2400">
                <a:sym typeface="+mn-ea"/>
              </a:rPr>
              <a:t>            &lt;h2&gt;Welcome to Public Transportation Optimization&lt;/h2&gt;</a:t>
            </a:r>
            <a:endParaRPr lang="en-IN" altLang="en-US" sz="2400"/>
          </a:p>
          <a:p>
            <a:pPr marL="0" indent="0">
              <a:buNone/>
            </a:pPr>
            <a:r>
              <a:rPr lang="en-IN" altLang="en-US" sz="2400">
                <a:sym typeface="+mn-ea"/>
              </a:rPr>
              <a:t>            &lt;p&gt;We are dedicated to making public transportation more efficient, accessible, and eco-friendly. Our solutions include real-time data, route planning, and optimization to improve your daily commute.&lt;/p&gt;</a:t>
            </a:r>
            <a:endParaRPr lang="en-IN" altLang="en-US" sz="2400"/>
          </a:p>
          <a:p>
            <a:pPr marL="0" indent="0">
              <a:buNone/>
            </a:pPr>
            <a:r>
              <a:rPr lang="en-IN" altLang="en-US" sz="2400">
                <a:sym typeface="+mn-ea"/>
              </a:rPr>
              <a:t>        &lt;/section&gt;</a:t>
            </a:r>
            <a:endParaRPr lang="en-IN" altLang="en-US" sz="2400"/>
          </a:p>
          <a:p>
            <a:pPr marL="0" indent="0">
              <a:buNone/>
            </a:pPr>
            <a:r>
              <a:rPr lang="en-IN" altLang="en-US" sz="2400">
                <a:sym typeface="+mn-ea"/>
              </a:rPr>
              <a:t>    &lt;/main&gt;</a:t>
            </a:r>
            <a:endParaRPr lang="en-IN" altLang="en-US" sz="2400"/>
          </a:p>
          <a:p>
            <a:pPr marL="0" indent="0">
              <a:buNone/>
            </a:pPr>
            <a:endParaRPr lang="en-IN" altLang="en-US" sz="2400"/>
          </a:p>
          <a:p>
            <a:pPr marL="0" indent="0">
              <a:buNone/>
            </a:pPr>
            <a:r>
              <a:rPr lang="en-IN" altLang="en-US" sz="2400">
                <a:sym typeface="+mn-ea"/>
              </a:rPr>
              <a:t>    &lt;footer&gt;</a:t>
            </a:r>
            <a:endParaRPr lang="en-IN" altLang="en-US" sz="2400"/>
          </a:p>
          <a:p>
            <a:pPr marL="0" indent="0">
              <a:buNone/>
            </a:pPr>
            <a:r>
              <a:rPr lang="en-IN" altLang="en-US" sz="2400">
                <a:sym typeface="+mn-ea"/>
              </a:rPr>
              <a:t>        &lt;p&gt;&amp;copy; 2023 Public Transportation Optimization Solutions&lt;/p&gt;</a:t>
            </a:r>
            <a:endParaRPr lang="en-IN" altLang="en-US" sz="2400"/>
          </a:p>
          <a:p>
            <a:pPr marL="0" indent="0">
              <a:buNone/>
            </a:pPr>
            <a:r>
              <a:rPr lang="en-IN" altLang="en-US" sz="2400">
                <a:sym typeface="+mn-ea"/>
              </a:rPr>
              <a:t>    &lt;/footer&gt;</a:t>
            </a:r>
            <a:endParaRPr lang="en-IN" altLang="en-US" sz="2400"/>
          </a:p>
          <a:p>
            <a:pPr marL="0" indent="0">
              <a:buNone/>
            </a:pPr>
            <a:r>
              <a:rPr lang="en-IN" altLang="en-US" sz="2400">
                <a:sym typeface="+mn-ea"/>
              </a:rPr>
              <a:t>&lt;/body&gt;</a:t>
            </a:r>
            <a:endParaRPr lang="en-IN" altLang="en-US" sz="2400"/>
          </a:p>
          <a:p>
            <a:pPr marL="0" indent="0">
              <a:buNone/>
            </a:pPr>
            <a:r>
              <a:rPr lang="en-IN" altLang="en-US" sz="2400">
                <a:sym typeface="+mn-ea"/>
              </a:rPr>
              <a:t>&lt;/html&gt;</a:t>
            </a:r>
            <a:endParaRPr lang="en-IN" altLang="en-US" sz="2400"/>
          </a:p>
          <a:p>
            <a:pPr marL="0" indent="0">
              <a:buNone/>
            </a:pPr>
            <a:endParaRPr 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1440" y="-635"/>
            <a:ext cx="11262360" cy="6859270"/>
          </a:xfrm>
        </p:spPr>
        <p:txBody>
          <a:bodyPr>
            <a:normAutofit/>
          </a:bodyPr>
          <a:p>
            <a:pPr marL="0" indent="0">
              <a:buNone/>
            </a:pPr>
            <a:r>
              <a:rPr lang="en-IN" altLang="en-US" sz="2400" b="1">
                <a:sym typeface="+mn-ea"/>
              </a:rPr>
              <a:t>gps.html</a:t>
            </a:r>
            <a:endParaRPr lang="en-IN" altLang="en-US" sz="2400" b="1"/>
          </a:p>
          <a:p>
            <a:pPr marL="0" indent="0">
              <a:buNone/>
            </a:pPr>
            <a:r>
              <a:rPr lang="en-IN" altLang="en-US" sz="2400">
                <a:sym typeface="+mn-ea"/>
              </a:rPr>
              <a:t>&lt;!DOCTYPE html&gt;</a:t>
            </a:r>
            <a:endParaRPr lang="en-IN" altLang="en-US" sz="2400"/>
          </a:p>
          <a:p>
            <a:pPr marL="0" indent="0">
              <a:buNone/>
            </a:pPr>
            <a:r>
              <a:rPr lang="en-IN" altLang="en-US" sz="2400">
                <a:sym typeface="+mn-ea"/>
              </a:rPr>
              <a:t>&lt;html&gt;</a:t>
            </a:r>
            <a:endParaRPr lang="en-IN" altLang="en-US" sz="2400"/>
          </a:p>
          <a:p>
            <a:pPr marL="0" indent="0">
              <a:buNone/>
            </a:pPr>
            <a:r>
              <a:rPr lang="en-IN" altLang="en-US" sz="2400">
                <a:sym typeface="+mn-ea"/>
              </a:rPr>
              <a:t>&lt;head&gt;&lt;title&gt;GPS Tracker&lt;/title&gt;&lt;meta charset="utf-8"&gt;</a:t>
            </a:r>
            <a:endParaRPr lang="en-IN" altLang="en-US" sz="2400"/>
          </a:p>
          <a:p>
            <a:pPr marL="0" indent="0">
              <a:buNone/>
            </a:pPr>
            <a:r>
              <a:rPr lang="en-IN" altLang="en-US" sz="2400">
                <a:sym typeface="+mn-ea"/>
              </a:rPr>
              <a:t>&lt;style&gt;</a:t>
            </a:r>
            <a:endParaRPr lang="en-IN" altLang="en-US" sz="2400"/>
          </a:p>
          <a:p>
            <a:pPr marL="0" indent="0">
              <a:buNone/>
            </a:pPr>
            <a:r>
              <a:rPr lang="en-IN" altLang="en-US" sz="2400">
                <a:sym typeface="+mn-ea"/>
              </a:rPr>
              <a:t>	input, textarea { -webkit-box-sizing: border-box; }</a:t>
            </a:r>
            <a:endParaRPr lang="en-IN" altLang="en-US" sz="2400"/>
          </a:p>
          <a:p>
            <a:pPr marL="0" indent="0">
              <a:buNone/>
            </a:pPr>
            <a:r>
              <a:rPr lang="en-IN" altLang="en-US" sz="2400">
                <a:sym typeface="+mn-ea"/>
              </a:rPr>
              <a:t>	input { width: 100%; font-size: 20px; }</a:t>
            </a:r>
            <a:endParaRPr lang="en-IN" altLang="en-US" sz="2400"/>
          </a:p>
          <a:p>
            <a:pPr marL="0" indent="0">
              <a:buNone/>
            </a:pPr>
            <a:r>
              <a:rPr lang="en-IN" altLang="en-US" sz="2400">
                <a:sym typeface="+mn-ea"/>
              </a:rPr>
              <a:t>	textarea { width: 100%; height: 500px; }</a:t>
            </a:r>
            <a:endParaRPr lang="en-IN" altLang="en-US" sz="2400"/>
          </a:p>
          <a:p>
            <a:pPr marL="0" indent="0">
              <a:buNone/>
            </a:pPr>
            <a:r>
              <a:rPr lang="en-IN" altLang="en-US" sz="2400">
                <a:sym typeface="+mn-ea"/>
              </a:rPr>
              <a:t>	input[type="button"],</a:t>
            </a:r>
            <a:endParaRPr lang="en-IN" altLang="en-US" sz="2400"/>
          </a:p>
          <a:p>
            <a:pPr marL="0" indent="0">
              <a:buNone/>
            </a:pPr>
            <a:r>
              <a:rPr lang="en-IN" altLang="en-US" sz="2400">
                <a:sym typeface="+mn-ea"/>
              </a:rPr>
              <a:t>	input[type="submit"] { width: 24%; }</a:t>
            </a:r>
            <a:endParaRPr lang="en-IN" altLang="en-US" sz="2400"/>
          </a:p>
          <a:p>
            <a:pPr marL="0" indent="0">
              <a:buNone/>
            </a:pPr>
            <a:r>
              <a:rPr lang="en-IN" altLang="en-US" sz="2400">
                <a:sym typeface="+mn-ea"/>
              </a:rPr>
              <a:t>	body { text-align: center; }</a:t>
            </a:r>
            <a:endParaRPr lang="en-IN" altLang="en-US" sz="2400"/>
          </a:p>
          <a:p>
            <a:pPr marL="0" indent="0">
              <a:buNone/>
            </a:pPr>
            <a:r>
              <a:rPr lang="en-IN" altLang="en-US" sz="2400">
                <a:sym typeface="+mn-ea"/>
              </a:rPr>
              <a:t>&lt;/style&gt;</a:t>
            </a:r>
            <a:endParaRPr lang="en-IN" altLang="en-US" sz="2400"/>
          </a:p>
          <a:p>
            <a:pPr marL="0" indent="0">
              <a:buNone/>
            </a:pPr>
            <a:r>
              <a:rPr lang="en-IN" altLang="en-US" sz="2400">
                <a:sym typeface="+mn-ea"/>
              </a:rPr>
              <a:t>&lt;body&gt;</a:t>
            </a:r>
            <a:endParaRPr lang="en-IN" altLang="en-US" sz="2400"/>
          </a:p>
          <a:p>
            <a:pPr marL="0" indent="0">
              <a:buNone/>
            </a:pPr>
            <a:endParaRPr 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2075" y="84455"/>
            <a:ext cx="11261725" cy="6633845"/>
          </a:xfrm>
        </p:spPr>
        <p:txBody>
          <a:bodyPr>
            <a:normAutofit fontScale="85000" lnSpcReduction="10000"/>
          </a:bodyPr>
          <a:p>
            <a:pPr marL="0" indent="0">
              <a:buNone/>
            </a:pPr>
            <a:r>
              <a:rPr lang="en-IN" altLang="en-US" sz="2825">
                <a:sym typeface="+mn-ea"/>
              </a:rPr>
              <a:t>&lt;form action="" method="post"&gt;</a:t>
            </a:r>
            <a:endParaRPr lang="en-IN" altLang="en-US" sz="2825"/>
          </a:p>
          <a:p>
            <a:pPr marL="0" indent="0">
              <a:buNone/>
            </a:pPr>
            <a:r>
              <a:rPr lang="en-IN" altLang="en-US" sz="2825">
                <a:sym typeface="+mn-ea"/>
              </a:rPr>
              <a:t>	&lt;input name="t_action" value="http://192.168.1.64/gps/save.php"&gt;</a:t>
            </a:r>
            <a:endParaRPr lang="en-IN" altLang="en-US" sz="2825"/>
          </a:p>
          <a:p>
            <a:pPr marL="0" indent="0">
              <a:buNone/>
            </a:pPr>
            <a:r>
              <a:rPr lang="en-IN" altLang="en-US" sz="2825">
                <a:sym typeface="+mn-ea"/>
              </a:rPr>
              <a:t>	&lt;textarea readonly name="coords"&gt;&lt;/textarea&gt;</a:t>
            </a:r>
            <a:endParaRPr lang="en-IN" altLang="en-US" sz="2825"/>
          </a:p>
          <a:p>
            <a:pPr marL="0" indent="0">
              <a:buNone/>
            </a:pPr>
            <a:r>
              <a:rPr lang="en-IN" altLang="en-US" sz="2825">
                <a:sym typeface="+mn-ea"/>
              </a:rPr>
              <a:t>	&lt;input value="Start Tracking" type="button" onclick="startTracking();this.disabled=true;"&gt;</a:t>
            </a:r>
            <a:endParaRPr lang="en-IN" altLang="en-US" sz="2825"/>
          </a:p>
          <a:p>
            <a:pPr marL="0" indent="0">
              <a:buNone/>
            </a:pPr>
            <a:r>
              <a:rPr lang="en-IN" altLang="en-US" sz="2825">
                <a:sym typeface="+mn-ea"/>
              </a:rPr>
              <a:t>	&lt;input value="Reset Trip" type="button" onclick="resetTrip();"&gt;</a:t>
            </a:r>
            <a:endParaRPr lang="en-IN" altLang="en-US" sz="2825"/>
          </a:p>
          <a:p>
            <a:pPr marL="0" indent="0">
              <a:buNone/>
            </a:pPr>
            <a:r>
              <a:rPr lang="en-IN" altLang="en-US" sz="2825">
                <a:sym typeface="+mn-ea"/>
              </a:rPr>
              <a:t>	&lt;input value="Use Server" type="button" onclick="this.form.t_action.value = 'savetrip.php';"&gt;</a:t>
            </a:r>
            <a:endParaRPr lang="en-IN" altLang="en-US" sz="2825"/>
          </a:p>
          <a:p>
            <a:pPr marL="0" indent="0">
              <a:buNone/>
            </a:pPr>
            <a:r>
              <a:rPr lang="en-IN" altLang="en-US" sz="2825">
                <a:sym typeface="+mn-ea"/>
              </a:rPr>
              <a:t>	&lt;input type="submit" onclick="this.form.action = this.form.t_action.value='';"&gt;</a:t>
            </a:r>
            <a:endParaRPr lang="en-IN" altLang="en-US" sz="2825"/>
          </a:p>
          <a:p>
            <a:pPr marL="0" indent="0">
              <a:buNone/>
            </a:pPr>
            <a:r>
              <a:rPr lang="en-IN" altLang="en-US" sz="2825">
                <a:sym typeface="+mn-ea"/>
              </a:rPr>
              <a:t>&lt;/form&gt;</a:t>
            </a:r>
            <a:endParaRPr lang="en-IN" altLang="en-US" sz="2825"/>
          </a:p>
          <a:p>
            <a:pPr marL="0" indent="0">
              <a:buNone/>
            </a:pPr>
            <a:r>
              <a:rPr lang="en-IN" altLang="en-US" sz="2825">
                <a:sym typeface="+mn-ea"/>
              </a:rPr>
              <a:t>&lt;script&gt;</a:t>
            </a:r>
            <a:endParaRPr lang="en-IN" altLang="en-US" sz="2825"/>
          </a:p>
          <a:p>
            <a:pPr marL="0" indent="0">
              <a:buNone/>
            </a:pPr>
            <a:r>
              <a:rPr lang="en-IN" altLang="en-US" sz="2825">
                <a:sym typeface="+mn-ea"/>
              </a:rPr>
              <a:t>var ta = document.querySelector('textarea');</a:t>
            </a:r>
            <a:endParaRPr lang="en-IN" altLang="en-US" sz="2825"/>
          </a:p>
          <a:p>
            <a:pPr marL="0" indent="0">
              <a:buNone/>
            </a:pPr>
            <a:r>
              <a:rPr lang="en-IN" altLang="en-US" sz="2825">
                <a:sym typeface="+mn-ea"/>
              </a:rPr>
              <a:t>var lt = 0;</a:t>
            </a:r>
            <a:endParaRPr lang="en-IN" altLang="en-US" sz="2825"/>
          </a:p>
          <a:p>
            <a:pPr marL="0" indent="0">
              <a:buNone/>
            </a:pPr>
            <a:r>
              <a:rPr lang="en-IN" altLang="en-US" sz="2825">
                <a:sym typeface="+mn-ea"/>
              </a:rPr>
              <a:t>var ls = false;</a:t>
            </a:r>
            <a:endParaRPr lang="en-IN" altLang="en-US" sz="2825"/>
          </a:p>
          <a:p>
            <a:pPr marL="0" indent="0">
              <a:buNone/>
            </a:pPr>
            <a:r>
              <a:rPr lang="en-IN" altLang="en-US" sz="2825">
                <a:sym typeface="+mn-ea"/>
              </a:rPr>
              <a:t>var track = false;</a:t>
            </a:r>
            <a:endParaRPr lang="en-IN" altLang="en-US" sz="2825"/>
          </a:p>
          <a:p>
            <a:pPr marL="0" indent="0">
              <a:buNone/>
            </a:pPr>
            <a:r>
              <a:rPr lang="en-IN" altLang="en-US" sz="2825">
                <a:sym typeface="+mn-ea"/>
              </a:rPr>
              <a:t>(</a:t>
            </a:r>
            <a:endParaRPr lang="en-IN" altLang="en-US" sz="2825"/>
          </a:p>
          <a:p>
            <a:pPr marL="0" indent="0">
              <a:buNone/>
            </a:pPr>
            <a:endParaRPr lang="en-US" sz="2400"/>
          </a:p>
          <a:p>
            <a:pPr marL="0" indent="0">
              <a:buNone/>
            </a:pPr>
            <a:endParaRPr 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1353800" cy="6859270"/>
          </a:xfrm>
        </p:spPr>
        <p:txBody>
          <a:bodyPr>
            <a:normAutofit/>
          </a:bodyPr>
          <a:p>
            <a:pPr marL="0" indent="0">
              <a:buNone/>
            </a:pPr>
            <a:r>
              <a:rPr lang="en-IN" altLang="en-US" sz="2400">
                <a:sym typeface="+mn-ea"/>
              </a:rPr>
              <a:t>function() {</a:t>
            </a:r>
            <a:endParaRPr lang="en-IN" altLang="en-US" sz="2400"/>
          </a:p>
          <a:p>
            <a:pPr marL="0" indent="0">
              <a:buNone/>
            </a:pPr>
            <a:r>
              <a:rPr lang="en-IN" altLang="en-US" sz="2400">
                <a:sym typeface="+mn-ea"/>
              </a:rPr>
              <a:t>	var tr = localStorage.getItem('trip');</a:t>
            </a:r>
            <a:endParaRPr lang="en-IN" altLang="en-US" sz="2400"/>
          </a:p>
          <a:p>
            <a:pPr marL="0" indent="0">
              <a:buNone/>
            </a:pPr>
            <a:r>
              <a:rPr lang="en-IN" altLang="en-US" sz="2400">
                <a:sym typeface="+mn-ea"/>
              </a:rPr>
              <a:t>	if (tr != '' &amp;&amp; tr != null) {</a:t>
            </a:r>
            <a:endParaRPr lang="en-IN" altLang="en-US" sz="2400"/>
          </a:p>
          <a:p>
            <a:pPr marL="0" indent="0">
              <a:buNone/>
            </a:pPr>
            <a:r>
              <a:rPr lang="en-IN" altLang="en-US" sz="2400">
                <a:sym typeface="+mn-ea"/>
              </a:rPr>
              <a:t>		ta.value = tr + '\n';</a:t>
            </a:r>
            <a:endParaRPr lang="en-IN" altLang="en-US" sz="2400"/>
          </a:p>
          <a:p>
            <a:pPr marL="0" indent="0">
              <a:buNone/>
            </a:pPr>
            <a:r>
              <a:rPr lang="en-IN" altLang="en-US" sz="2400">
                <a:sym typeface="+mn-ea"/>
              </a:rPr>
              <a:t>	}</a:t>
            </a:r>
            <a:endParaRPr lang="en-IN" altLang="en-US" sz="2400"/>
          </a:p>
          <a:p>
            <a:pPr marL="0" indent="0">
              <a:buNone/>
            </a:pPr>
            <a:r>
              <a:rPr lang="en-IN" altLang="en-US" sz="2400">
                <a:sym typeface="+mn-ea"/>
              </a:rPr>
              <a:t>})();</a:t>
            </a:r>
            <a:endParaRPr lang="en-IN" altLang="en-US" sz="2400"/>
          </a:p>
          <a:p>
            <a:pPr marL="0" indent="0">
              <a:buNone/>
            </a:pPr>
            <a:r>
              <a:rPr lang="en-IN" altLang="en-US" sz="2400">
                <a:sym typeface="+mn-ea"/>
              </a:rPr>
              <a:t>function addHeader() {</a:t>
            </a:r>
            <a:endParaRPr lang="en-IN" altLang="en-US" sz="2400"/>
          </a:p>
          <a:p>
            <a:pPr marL="0" indent="0">
              <a:buNone/>
            </a:pPr>
            <a:r>
              <a:rPr lang="en-IN" altLang="en-US" sz="2400">
                <a:sym typeface="+mn-ea"/>
              </a:rPr>
              <a:t>	ta.value += '-- tracking started: ' + (new Date().toString()) + '\n';</a:t>
            </a:r>
            <a:endParaRPr lang="en-IN" altLang="en-US" sz="2400"/>
          </a:p>
          <a:p>
            <a:pPr marL="0" indent="0">
              <a:buNone/>
            </a:pPr>
            <a:r>
              <a:rPr lang="en-IN" altLang="en-US" sz="2400">
                <a:sym typeface="+mn-ea"/>
              </a:rPr>
              <a:t>	ta.value += (new Date().getTime()) + ' // start\n';</a:t>
            </a:r>
            <a:endParaRPr lang="en-IN" altLang="en-US" sz="2400"/>
          </a:p>
          <a:p>
            <a:pPr marL="0" indent="0">
              <a:buNone/>
            </a:pPr>
            <a:r>
              <a:rPr lang="en-IN" altLang="en-US" sz="2400">
                <a:sym typeface="+mn-ea"/>
              </a:rPr>
              <a:t>	localStorage.setItem('trip', ta.value);</a:t>
            </a:r>
            <a:endParaRPr lang="en-IN" altLang="en-US" sz="2400"/>
          </a:p>
          <a:p>
            <a:pPr marL="0" indent="0">
              <a:buNone/>
            </a:pPr>
            <a:r>
              <a:rPr lang="en-IN" altLang="en-US" sz="2400">
                <a:sym typeface="+mn-ea"/>
              </a:rPr>
              <a:t>}</a:t>
            </a:r>
            <a:endParaRPr lang="en-IN" altLang="en-US" sz="2400"/>
          </a:p>
          <a:p>
            <a:pPr marL="0" indent="0">
              <a:buNone/>
            </a:pPr>
            <a:r>
              <a:rPr lang="en-IN" altLang="en-US" sz="2400">
                <a:sym typeface="+mn-ea"/>
              </a:rPr>
              <a:t>function resetTrip() {</a:t>
            </a:r>
            <a:endParaRPr lang="en-IN" altLang="en-US" sz="2400"/>
          </a:p>
          <a:p>
            <a:pPr marL="0" indent="0">
              <a:buNone/>
            </a:pPr>
            <a:r>
              <a:rPr lang="en-IN" altLang="en-US" sz="2400">
                <a:sym typeface="+mn-ea"/>
              </a:rPr>
              <a:t>	if (!confirm('Are you sure you want to clear your trip?'))</a:t>
            </a:r>
            <a:endParaRPr lang="en-IN" altLang="en-US" sz="2400"/>
          </a:p>
          <a:p>
            <a:pPr marL="0" indent="0">
              <a:buNone/>
            </a:pPr>
            <a:r>
              <a:rPr lang="en-IN" altLang="en-US" sz="2400">
                <a:sym typeface="+mn-ea"/>
              </a:rPr>
              <a:t>		return false;</a:t>
            </a:r>
            <a:endParaRPr lang="en-IN" altLang="en-US" sz="2400"/>
          </a:p>
          <a:p>
            <a:pPr marL="0" indent="0">
              <a:buNone/>
            </a:pPr>
            <a:r>
              <a:rPr lang="en-IN" altLang="en-US" sz="2400">
                <a:sym typeface="+mn-ea"/>
              </a:rPr>
              <a:t>	localStorage.setItem('trip', '');</a:t>
            </a:r>
            <a:endParaRPr lang="en-IN" altLang="en-US" sz="2400"/>
          </a:p>
          <a:p>
            <a:pPr marL="0" indent="0">
              <a:buNone/>
            </a:pPr>
            <a:endParaRPr 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9850" y="127000"/>
            <a:ext cx="11283950" cy="6633845"/>
          </a:xfrm>
        </p:spPr>
        <p:txBody>
          <a:bodyPr>
            <a:noAutofit/>
          </a:bodyPr>
          <a:p>
            <a:pPr marL="0" indent="0">
              <a:buNone/>
            </a:pPr>
            <a:r>
              <a:rPr lang="en-IN" altLang="en-US" sz="1900">
                <a:sym typeface="+mn-ea"/>
              </a:rPr>
              <a:t>ta.value = '';</a:t>
            </a:r>
            <a:endParaRPr lang="en-IN" altLang="en-US" sz="1900"/>
          </a:p>
          <a:p>
            <a:pPr marL="0" indent="0">
              <a:buNone/>
            </a:pPr>
            <a:r>
              <a:rPr lang="en-IN" altLang="en-US" sz="1900">
                <a:sym typeface="+mn-ea"/>
              </a:rPr>
              <a:t>	addHeader();</a:t>
            </a:r>
            <a:endParaRPr lang="en-IN" altLang="en-US" sz="1900"/>
          </a:p>
          <a:p>
            <a:pPr marL="0" indent="0">
              <a:buNone/>
            </a:pPr>
            <a:r>
              <a:rPr lang="en-IN" altLang="en-US" sz="1900">
                <a:sym typeface="+mn-ea"/>
              </a:rPr>
              <a:t>}</a:t>
            </a:r>
            <a:endParaRPr lang="en-IN" altLang="en-US" sz="1900"/>
          </a:p>
          <a:p>
            <a:pPr marL="0" indent="0">
              <a:buNone/>
            </a:pPr>
            <a:r>
              <a:rPr lang="en-IN" altLang="en-US" sz="1900">
                <a:sym typeface="+mn-ea"/>
              </a:rPr>
              <a:t>function startTracking() {</a:t>
            </a:r>
            <a:endParaRPr lang="en-IN" altLang="en-US" sz="1900"/>
          </a:p>
          <a:p>
            <a:pPr marL="0" indent="0">
              <a:buNone/>
            </a:pPr>
            <a:r>
              <a:rPr lang="en-IN" altLang="en-US" sz="1900">
                <a:sym typeface="+mn-ea"/>
              </a:rPr>
              <a:t>	track = true;</a:t>
            </a:r>
            <a:endParaRPr lang="en-IN" altLang="en-US" sz="1900"/>
          </a:p>
          <a:p>
            <a:pPr marL="0" indent="0">
              <a:buNone/>
            </a:pPr>
            <a:r>
              <a:rPr lang="en-IN" altLang="en-US" sz="1900">
                <a:sym typeface="+mn-ea"/>
              </a:rPr>
              <a:t>	addHeader();</a:t>
            </a:r>
            <a:endParaRPr lang="en-IN" altLang="en-US" sz="1900"/>
          </a:p>
          <a:p>
            <a:pPr marL="0" indent="0">
              <a:buNone/>
            </a:pPr>
            <a:r>
              <a:rPr lang="en-IN" altLang="en-US" sz="1900">
                <a:sym typeface="+mn-ea"/>
              </a:rPr>
              <a:t>	navigator.geolocation.watchPosition(</a:t>
            </a:r>
            <a:endParaRPr lang="en-IN" altLang="en-US" sz="1900"/>
          </a:p>
          <a:p>
            <a:pPr marL="0" indent="0">
              <a:buNone/>
            </a:pPr>
            <a:r>
              <a:rPr lang="en-IN" altLang="en-US" sz="1900">
                <a:sym typeface="+mn-ea"/>
              </a:rPr>
              <a:t>		function(position) {</a:t>
            </a:r>
            <a:endParaRPr lang="en-IN" altLang="en-US" sz="1900"/>
          </a:p>
          <a:p>
            <a:pPr marL="0" indent="0">
              <a:buNone/>
            </a:pPr>
            <a:r>
              <a:rPr lang="en-IN" altLang="en-US" sz="1900">
                <a:sym typeface="+mn-ea"/>
              </a:rPr>
              <a:t>			var now = new Date().getTime();</a:t>
            </a:r>
            <a:endParaRPr lang="en-IN" altLang="en-US" sz="1900"/>
          </a:p>
          <a:p>
            <a:pPr marL="0" indent="0">
              <a:buNone/>
            </a:pPr>
            <a:r>
              <a:rPr lang="en-IN" altLang="en-US" sz="1900">
                <a:sym typeface="+mn-ea"/>
              </a:rPr>
              <a:t>			if (ls != 1 || now - lt &gt; 10000) {</a:t>
            </a:r>
            <a:endParaRPr lang="en-IN" altLang="en-US" sz="1900"/>
          </a:p>
          <a:p>
            <a:pPr marL="0" indent="0">
              <a:buNone/>
            </a:pPr>
            <a:r>
              <a:rPr lang="en-IN" altLang="en-US" sz="1900">
                <a:sym typeface="+mn-ea"/>
              </a:rPr>
              <a:t>				ta.value += now + ' // ' + position.coords.latitude + ' // ' + position.coords.longitude + '\n';</a:t>
            </a:r>
            <a:endParaRPr lang="en-IN" altLang="en-US" sz="1900"/>
          </a:p>
          <a:p>
            <a:pPr marL="0" indent="0">
              <a:buNone/>
            </a:pPr>
            <a:r>
              <a:rPr lang="en-IN" altLang="en-US" sz="1900">
                <a:sym typeface="+mn-ea"/>
              </a:rPr>
              <a:t>				localStorage.setItem('trip', ta.value);</a:t>
            </a:r>
            <a:endParaRPr lang="en-IN" altLang="en-US" sz="1900"/>
          </a:p>
          <a:p>
            <a:pPr marL="0" indent="0">
              <a:buNone/>
            </a:pPr>
            <a:r>
              <a:rPr lang="en-IN" altLang="en-US" sz="1900">
                <a:sym typeface="+mn-ea"/>
              </a:rPr>
              <a:t>				lt = now;</a:t>
            </a:r>
            <a:endParaRPr lang="en-IN" altLang="en-US" sz="1900"/>
          </a:p>
          <a:p>
            <a:pPr marL="0" indent="0">
              <a:buNone/>
            </a:pPr>
            <a:r>
              <a:rPr lang="en-IN" altLang="en-US" sz="1900">
                <a:sym typeface="+mn-ea"/>
              </a:rPr>
              <a:t>				ls = 1;</a:t>
            </a:r>
            <a:endParaRPr lang="en-IN" altLang="en-US" sz="1900"/>
          </a:p>
          <a:p>
            <a:pPr marL="0" indent="0">
              <a:buNone/>
            </a:pPr>
            <a:r>
              <a:rPr lang="en-IN" altLang="en-US" sz="1900">
                <a:sym typeface="+mn-ea"/>
              </a:rPr>
              <a:t>			}</a:t>
            </a:r>
            <a:endParaRPr lang="en-IN" altLang="en-US" sz="1900"/>
          </a:p>
          <a:p>
            <a:pPr marL="0" indent="0">
              <a:buNone/>
            </a:pPr>
            <a:r>
              <a:rPr lang="en-IN" altLang="en-US" sz="1900">
                <a:sym typeface="+mn-ea"/>
              </a:rPr>
              <a:t>		},</a:t>
            </a:r>
            <a:endParaRPr lang="en-IN" altLang="en-US" sz="1900"/>
          </a:p>
          <a:p>
            <a:pPr marL="0" indent="0">
              <a:buNone/>
            </a:pPr>
            <a:endParaRPr lang="en-IN" altLang="en-US" sz="1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2075" y="105410"/>
            <a:ext cx="11261725" cy="6753225"/>
          </a:xfrm>
        </p:spPr>
        <p:txBody>
          <a:bodyPr>
            <a:normAutofit lnSpcReduction="10000"/>
          </a:bodyPr>
          <a:p>
            <a:pPr marL="0" indent="0">
              <a:buNone/>
            </a:pPr>
            <a:r>
              <a:rPr lang="en-IN" altLang="en-US" sz="2000">
                <a:sym typeface="+mn-ea"/>
              </a:rPr>
              <a:t>function() {</a:t>
            </a:r>
            <a:endParaRPr lang="en-IN" altLang="en-US" sz="2000"/>
          </a:p>
          <a:p>
            <a:pPr marL="0" indent="0">
              <a:buNone/>
            </a:pPr>
            <a:r>
              <a:rPr lang="en-IN" altLang="en-US" sz="2000">
                <a:sym typeface="+mn-ea"/>
              </a:rPr>
              <a:t>			var now = new Date().getTime();</a:t>
            </a:r>
            <a:endParaRPr lang="en-IN" altLang="en-US" sz="2000"/>
          </a:p>
          <a:p>
            <a:pPr marL="0" indent="0">
              <a:buNone/>
            </a:pPr>
            <a:r>
              <a:rPr lang="en-IN" altLang="en-US" sz="2000">
                <a:sym typeface="+mn-ea"/>
              </a:rPr>
              <a:t>			if (ls != 0 || now - lt &gt; 10000) {</a:t>
            </a:r>
            <a:endParaRPr lang="en-IN" altLang="en-US" sz="2000"/>
          </a:p>
          <a:p>
            <a:pPr marL="0" indent="0">
              <a:buNone/>
            </a:pPr>
            <a:r>
              <a:rPr lang="en-IN" altLang="en-US" sz="2000">
                <a:sym typeface="+mn-ea"/>
              </a:rPr>
              <a:t>				ta.value += now + ' // fail\n';</a:t>
            </a:r>
            <a:endParaRPr lang="en-IN" altLang="en-US" sz="2000"/>
          </a:p>
          <a:p>
            <a:pPr marL="0" indent="0">
              <a:buNone/>
            </a:pPr>
            <a:r>
              <a:rPr lang="en-IN" altLang="en-US" sz="2000">
                <a:sym typeface="+mn-ea"/>
              </a:rPr>
              <a:t>				localStorage.setItem('trip', ta.value);</a:t>
            </a:r>
            <a:endParaRPr lang="en-IN" altLang="en-US" sz="2000"/>
          </a:p>
          <a:p>
            <a:pPr marL="0" indent="0">
              <a:buNone/>
            </a:pPr>
            <a:r>
              <a:rPr lang="en-IN" altLang="en-US" sz="2000">
                <a:sym typeface="+mn-ea"/>
              </a:rPr>
              <a:t>				lt = now;</a:t>
            </a:r>
            <a:endParaRPr lang="en-IN" altLang="en-US" sz="2000"/>
          </a:p>
          <a:p>
            <a:pPr marL="0" indent="0">
              <a:buNone/>
            </a:pPr>
            <a:r>
              <a:rPr lang="en-IN" altLang="en-US" sz="2000">
                <a:sym typeface="+mn-ea"/>
              </a:rPr>
              <a:t>				ls = 0;</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			enableHighAccuracy: true,</a:t>
            </a:r>
            <a:endParaRPr lang="en-IN" altLang="en-US" sz="2000"/>
          </a:p>
          <a:p>
            <a:pPr marL="0" indent="0">
              <a:buNone/>
            </a:pPr>
            <a:r>
              <a:rPr lang="en-IN" altLang="en-US" sz="2000">
                <a:sym typeface="+mn-ea"/>
              </a:rPr>
              <a:t>			maximumAge: 60000,</a:t>
            </a:r>
            <a:endParaRPr lang="en-IN" altLang="en-US" sz="2000"/>
          </a:p>
          <a:p>
            <a:pPr marL="0" indent="0">
              <a:buNone/>
            </a:pPr>
            <a:r>
              <a:rPr lang="en-IN" altLang="en-US" sz="2000">
                <a:sym typeface="+mn-ea"/>
              </a:rPr>
              <a:t>			timeout: 15000</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&lt;/script&gt;</a:t>
            </a:r>
            <a:endParaRPr lang="en-IN" altLang="en-US" sz="2000"/>
          </a:p>
          <a:p>
            <a:pPr marL="0" indent="0">
              <a:buNone/>
            </a:pPr>
            <a:r>
              <a:rPr lang="en-IN" altLang="en-US" sz="2000">
                <a:sym typeface="+mn-ea"/>
              </a:rPr>
              <a:t>&lt;/body&gt;</a:t>
            </a:r>
            <a:endParaRPr lang="en-IN" altLang="en-US" sz="2000"/>
          </a:p>
          <a:p>
            <a:pPr marL="0" indent="0">
              <a:buNone/>
            </a:pPr>
            <a:endParaRPr lang="en-US" sz="2400"/>
          </a:p>
          <a:p>
            <a:pPr marL="0" indent="0">
              <a:buNone/>
            </a:pPr>
            <a:endParaRPr 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73660"/>
            <a:ext cx="12192635" cy="6655435"/>
          </a:xfrm>
        </p:spPr>
        <p:txBody>
          <a:bodyPr>
            <a:normAutofit/>
          </a:bodyPr>
          <a:p>
            <a:pPr marL="0" indent="0">
              <a:buNone/>
            </a:pPr>
            <a:r>
              <a:rPr lang="en-IN" altLang="en-US" sz="2400">
                <a:sym typeface="+mn-ea"/>
              </a:rPr>
              <a:t>weight_measuring.html:</a:t>
            </a:r>
            <a:endParaRPr lang="en-IN" altLang="en-US" sz="2400"/>
          </a:p>
          <a:p>
            <a:pPr marL="0" indent="0">
              <a:buNone/>
            </a:pPr>
            <a:r>
              <a:rPr lang="en-IN" altLang="en-US" sz="2400">
                <a:sym typeface="+mn-ea"/>
              </a:rPr>
              <a:t>&lt;!DOCTYPE html&gt;</a:t>
            </a:r>
            <a:endParaRPr lang="en-IN" altLang="en-US" sz="2400"/>
          </a:p>
          <a:p>
            <a:pPr marL="0" indent="0">
              <a:buNone/>
            </a:pPr>
            <a:r>
              <a:rPr lang="en-IN" altLang="en-US" sz="2400">
                <a:sym typeface="+mn-ea"/>
              </a:rPr>
              <a:t>&lt;html lang="en"&gt;</a:t>
            </a:r>
            <a:endParaRPr lang="en-IN" altLang="en-US" sz="2400"/>
          </a:p>
          <a:p>
            <a:pPr marL="0" indent="0">
              <a:buNone/>
            </a:pPr>
            <a:r>
              <a:rPr lang="en-IN" altLang="en-US" sz="2400">
                <a:sym typeface="+mn-ea"/>
              </a:rPr>
              <a:t>&lt;head&gt;</a:t>
            </a:r>
            <a:endParaRPr lang="en-IN" altLang="en-US" sz="2400"/>
          </a:p>
          <a:p>
            <a:pPr marL="0" indent="0">
              <a:buNone/>
            </a:pPr>
            <a:r>
              <a:rPr lang="en-IN" altLang="en-US" sz="2400">
                <a:sym typeface="+mn-ea"/>
              </a:rPr>
              <a:t>    &lt;meta charset="UTF-8"&gt;</a:t>
            </a:r>
            <a:endParaRPr lang="en-IN" altLang="en-US" sz="2400"/>
          </a:p>
          <a:p>
            <a:pPr marL="0" indent="0">
              <a:buNone/>
            </a:pPr>
            <a:r>
              <a:rPr lang="en-IN" altLang="en-US" sz="2400">
                <a:sym typeface="+mn-ea"/>
              </a:rPr>
              <a:t>    &lt;meta name="viewport" content="width=device-width, initial-scale=1.0"&gt;</a:t>
            </a:r>
            <a:endParaRPr lang="en-IN" altLang="en-US" sz="2400"/>
          </a:p>
          <a:p>
            <a:pPr marL="0" indent="0">
              <a:buNone/>
            </a:pPr>
            <a:r>
              <a:rPr lang="en-IN" altLang="en-US" sz="2400">
                <a:sym typeface="+mn-ea"/>
              </a:rPr>
              <a:t>    &lt;title&gt;Bus Weight Monitoring&lt;/title&gt;</a:t>
            </a:r>
            <a:endParaRPr lang="en-IN" altLang="en-US" sz="2400"/>
          </a:p>
          <a:p>
            <a:pPr marL="0" indent="0">
              <a:buNone/>
            </a:pPr>
            <a:r>
              <a:rPr lang="en-IN" altLang="en-US" sz="2400">
                <a:sym typeface="+mn-ea"/>
              </a:rPr>
              <a:t>    &lt;link rel="stylesheet" type="text/css" href="style.css"&gt;</a:t>
            </a:r>
            <a:endParaRPr lang="en-IN" altLang="en-US" sz="2400"/>
          </a:p>
          <a:p>
            <a:pPr marL="0" indent="0">
              <a:buNone/>
            </a:pPr>
            <a:r>
              <a:rPr lang="en-IN" altLang="en-US" sz="2400">
                <a:sym typeface="+mn-ea"/>
              </a:rPr>
              <a:t>&lt;/head&gt;</a:t>
            </a:r>
            <a:endParaRPr lang="en-IN" altLang="en-US" sz="2400"/>
          </a:p>
          <a:p>
            <a:pPr marL="0" indent="0">
              <a:buNone/>
            </a:pPr>
            <a:r>
              <a:rPr lang="en-IN" altLang="en-US" sz="2400">
                <a:sym typeface="+mn-ea"/>
              </a:rPr>
              <a:t>&lt;body&gt;</a:t>
            </a:r>
            <a:endParaRPr lang="en-IN" altLang="en-US" sz="2400"/>
          </a:p>
          <a:p>
            <a:pPr marL="0" indent="0">
              <a:buNone/>
            </a:pPr>
            <a:r>
              <a:rPr lang="en-IN" altLang="en-US" sz="2400">
                <a:sym typeface="+mn-ea"/>
              </a:rPr>
              <a:t>    &lt;h1&gt;Bus Weight Monitoring&lt;/h1&gt;</a:t>
            </a:r>
            <a:endParaRPr lang="en-IN" altLang="en-US" sz="2400"/>
          </a:p>
          <a:p>
            <a:pPr marL="0" indent="0">
              <a:buNone/>
            </a:pPr>
            <a:r>
              <a:rPr lang="en-IN" altLang="en-US" sz="2400">
                <a:sym typeface="+mn-ea"/>
              </a:rPr>
              <a:t>    &lt;div id="weight-display"&gt;</a:t>
            </a:r>
            <a:endParaRPr lang="en-IN" altLang="en-US" sz="2400"/>
          </a:p>
          <a:p>
            <a:pPr marL="0" indent="0">
              <a:buNone/>
            </a:pPr>
            <a:r>
              <a:rPr lang="en-IN" altLang="en-US" sz="2400">
                <a:sym typeface="+mn-ea"/>
              </a:rPr>
              <a:t>        &lt;p&gt;Current Weight: &lt;span id="current-weight"&gt;0 kg&lt;/span&gt;&lt;/p&gt;</a:t>
            </a:r>
            <a:endParaRPr lang="en-IN" altLang="en-US" sz="2400"/>
          </a:p>
          <a:p>
            <a:pPr marL="0" indent="0">
              <a:buNone/>
            </a:pPr>
            <a:r>
              <a:rPr lang="en-IN" altLang="en-US" sz="2400">
                <a:sym typeface="+mn-ea"/>
              </a:rPr>
              <a:t>    &lt;/div&gt;</a:t>
            </a:r>
            <a:endParaRPr lang="en-IN" altLang="en-US" sz="2400"/>
          </a:p>
          <a:p>
            <a:pPr marL="0" indent="0">
              <a:buNone/>
            </a:pPr>
            <a:endParaRPr lang="en-US"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73660"/>
            <a:ext cx="11353800" cy="6677025"/>
          </a:xfrm>
        </p:spPr>
        <p:txBody>
          <a:bodyPr>
            <a:normAutofit fontScale="90000"/>
          </a:bodyPr>
          <a:p>
            <a:pPr marL="0" indent="0">
              <a:buNone/>
            </a:pPr>
            <a:r>
              <a:rPr lang="en-IN" altLang="en-US">
                <a:sym typeface="+mn-ea"/>
              </a:rPr>
              <a:t> </a:t>
            </a:r>
            <a:r>
              <a:rPr lang="en-IN" altLang="en-US" sz="2665">
                <a:sym typeface="+mn-ea"/>
              </a:rPr>
              <a:t>&lt;script&gt;</a:t>
            </a:r>
            <a:endParaRPr lang="en-IN" altLang="en-US" sz="2665"/>
          </a:p>
          <a:p>
            <a:pPr marL="0" indent="0">
              <a:buNone/>
            </a:pPr>
            <a:r>
              <a:rPr lang="en-IN" altLang="en-US" sz="2665">
                <a:sym typeface="+mn-ea"/>
              </a:rPr>
              <a:t>        // Simulated weight values (replace with actual sensor data)</a:t>
            </a:r>
            <a:endParaRPr lang="en-IN" altLang="en-US" sz="2665"/>
          </a:p>
          <a:p>
            <a:pPr marL="0" indent="0">
              <a:buNone/>
            </a:pPr>
            <a:r>
              <a:rPr lang="en-IN" altLang="en-US" sz="2665">
                <a:sym typeface="+mn-ea"/>
              </a:rPr>
              <a:t>        let currentWeight = 0;</a:t>
            </a:r>
            <a:endParaRPr lang="en-IN" altLang="en-US" sz="2665"/>
          </a:p>
          <a:p>
            <a:pPr marL="0" indent="0">
              <a:buNone/>
            </a:pPr>
            <a:r>
              <a:rPr lang="en-IN" altLang="en-US" sz="2665">
                <a:sym typeface="+mn-ea"/>
              </a:rPr>
              <a:t>        const maxWeight = 50; // Set the maximum allowable weight in kg</a:t>
            </a:r>
            <a:endParaRPr lang="en-IN" altLang="en-US" sz="2665"/>
          </a:p>
          <a:p>
            <a:pPr marL="0" indent="0">
              <a:buNone/>
            </a:pPr>
            <a:endParaRPr lang="en-IN" altLang="en-US" sz="2665"/>
          </a:p>
          <a:p>
            <a:pPr marL="0" indent="0">
              <a:buNone/>
            </a:pPr>
            <a:r>
              <a:rPr lang="en-IN" altLang="en-US" sz="2665">
                <a:sym typeface="+mn-ea"/>
              </a:rPr>
              <a:t>        // Function to update weight and check for alerts</a:t>
            </a:r>
            <a:endParaRPr lang="en-IN" altLang="en-US" sz="2665"/>
          </a:p>
          <a:p>
            <a:pPr marL="0" indent="0">
              <a:buNone/>
            </a:pPr>
            <a:r>
              <a:rPr lang="en-IN" altLang="en-US" sz="2665">
                <a:sym typeface="+mn-ea"/>
              </a:rPr>
              <a:t>        function updateWeight() {</a:t>
            </a:r>
            <a:endParaRPr lang="en-IN" altLang="en-US" sz="2665"/>
          </a:p>
          <a:p>
            <a:pPr marL="0" indent="0">
              <a:buNone/>
            </a:pPr>
            <a:r>
              <a:rPr lang="en-IN" altLang="en-US" sz="2665">
                <a:sym typeface="+mn-ea"/>
              </a:rPr>
              <a:t>            // Simulate weight changes (replace with actual sensor data)</a:t>
            </a:r>
            <a:endParaRPr lang="en-IN" altLang="en-US" sz="2665"/>
          </a:p>
          <a:p>
            <a:pPr marL="0" indent="0">
              <a:buNone/>
            </a:pPr>
            <a:r>
              <a:rPr lang="en-IN" altLang="en-US" sz="2665">
                <a:sym typeface="+mn-ea"/>
              </a:rPr>
              <a:t>            currentWeight += Math.random() * 10;</a:t>
            </a:r>
            <a:endParaRPr lang="en-IN" altLang="en-US" sz="2665"/>
          </a:p>
          <a:p>
            <a:pPr marL="0" indent="0">
              <a:buNone/>
            </a:pPr>
            <a:r>
              <a:rPr lang="en-IN" altLang="en-US" sz="2665">
                <a:sym typeface="+mn-ea"/>
              </a:rPr>
              <a:t>            </a:t>
            </a:r>
            <a:endParaRPr lang="en-IN" altLang="en-US" sz="2665"/>
          </a:p>
          <a:p>
            <a:pPr marL="0" indent="0">
              <a:buNone/>
            </a:pPr>
            <a:r>
              <a:rPr lang="en-IN" altLang="en-US" sz="2665">
                <a:sym typeface="+mn-ea"/>
              </a:rPr>
              <a:t>            // Update the displayed weight</a:t>
            </a:r>
            <a:endParaRPr lang="en-IN" altLang="en-US" sz="2665"/>
          </a:p>
          <a:p>
            <a:pPr marL="0" indent="0">
              <a:buNone/>
            </a:pPr>
            <a:r>
              <a:rPr lang="en-IN" altLang="en-US" sz="2665">
                <a:sym typeface="+mn-ea"/>
              </a:rPr>
              <a:t>            const weightDisplay = document.getElementById("current-weight");</a:t>
            </a:r>
            <a:endParaRPr lang="en-IN" altLang="en-US" sz="2665"/>
          </a:p>
          <a:p>
            <a:pPr marL="0" indent="0">
              <a:buNone/>
            </a:pPr>
            <a:r>
              <a:rPr lang="en-IN" altLang="en-US" sz="2665">
                <a:sym typeface="+mn-ea"/>
              </a:rPr>
              <a:t>            weightDisplay.textContent = currentWeight.toFixed(2) + " kg";</a:t>
            </a:r>
            <a:endParaRPr lang="en-IN" altLang="en-US"/>
          </a:p>
          <a:p>
            <a:pPr marL="0" indent="0">
              <a:buNone/>
            </a:pPr>
            <a:r>
              <a:rPr lang="en-IN" altLang="en-US">
                <a:sym typeface="+mn-ea"/>
              </a:rPr>
              <a:t>            </a:t>
            </a:r>
            <a:endParaRPr lang="en-IN" altLang="en-US"/>
          </a:p>
          <a:p>
            <a:pPr marL="0" indent="0">
              <a:buNone/>
            </a:pP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0645" y="73660"/>
            <a:ext cx="11273155" cy="6708775"/>
          </a:xfrm>
        </p:spPr>
        <p:txBody>
          <a:bodyPr>
            <a:normAutofit fontScale="90000" lnSpcReduction="10000"/>
          </a:bodyPr>
          <a:p>
            <a:pPr marL="0" indent="0">
              <a:buNone/>
            </a:pPr>
            <a:r>
              <a:rPr lang="en-IN" altLang="en-US">
                <a:sym typeface="+mn-ea"/>
              </a:rPr>
              <a:t>           </a:t>
            </a:r>
            <a:r>
              <a:rPr lang="en-IN" altLang="en-US" sz="2665">
                <a:sym typeface="+mn-ea"/>
              </a:rPr>
              <a:t> // Check if the weight exceeds the maximum</a:t>
            </a:r>
            <a:endParaRPr lang="en-IN" altLang="en-US" sz="2665"/>
          </a:p>
          <a:p>
            <a:pPr marL="0" indent="0">
              <a:buNone/>
            </a:pPr>
            <a:r>
              <a:rPr lang="en-IN" altLang="en-US" sz="2665">
                <a:sym typeface="+mn-ea"/>
              </a:rPr>
              <a:t>            if (currentWeight &gt; maxWeight) {</a:t>
            </a:r>
            <a:endParaRPr lang="en-IN" altLang="en-US" sz="2665"/>
          </a:p>
          <a:p>
            <a:pPr marL="0" indent="0">
              <a:buNone/>
            </a:pPr>
            <a:r>
              <a:rPr lang="en-IN" altLang="en-US" sz="2665">
                <a:sym typeface="+mn-ea"/>
              </a:rPr>
              <a:t>                // Trigger an alert when the weight exceeds the maximum</a:t>
            </a:r>
            <a:endParaRPr lang="en-IN" altLang="en-US" sz="2665"/>
          </a:p>
          <a:p>
            <a:pPr marL="0" indent="0">
              <a:buNone/>
            </a:pPr>
            <a:r>
              <a:rPr lang="en-IN" altLang="en-US" sz="2665">
                <a:sym typeface="+mn-ea"/>
              </a:rPr>
              <a:t>                alert("Warning: Maximum weight exceeded!");</a:t>
            </a:r>
            <a:endParaRPr lang="en-IN" altLang="en-US" sz="2665"/>
          </a:p>
          <a:p>
            <a:pPr marL="0" indent="0">
              <a:buNone/>
            </a:pPr>
            <a:r>
              <a:rPr lang="en-IN" altLang="en-US" sz="2665">
                <a:sym typeface="+mn-ea"/>
              </a:rPr>
              <a:t>                // Play an alert sound</a:t>
            </a:r>
            <a:endParaRPr lang="en-IN" altLang="en-US" sz="2665"/>
          </a:p>
          <a:p>
            <a:pPr marL="0" indent="0">
              <a:buNone/>
            </a:pPr>
            <a:r>
              <a:rPr lang="en-IN" altLang="en-US" sz="2665">
                <a:sym typeface="+mn-ea"/>
              </a:rPr>
              <a:t>                const audio = new Audio('alert-sound.mp3'); // Replace with the path to your alert sound file</a:t>
            </a:r>
            <a:endParaRPr lang="en-IN" altLang="en-US" sz="2665"/>
          </a:p>
          <a:p>
            <a:pPr marL="0" indent="0">
              <a:buNone/>
            </a:pPr>
            <a:r>
              <a:rPr lang="en-IN" altLang="en-US" sz="2665">
                <a:sym typeface="+mn-ea"/>
              </a:rPr>
              <a:t>                audio.play();</a:t>
            </a:r>
            <a:endParaRPr lang="en-IN" altLang="en-US" sz="2665"/>
          </a:p>
          <a:p>
            <a:pPr marL="0" indent="0">
              <a:buNone/>
            </a:pPr>
            <a:r>
              <a:rPr lang="en-IN" altLang="en-US" sz="2665">
                <a:sym typeface="+mn-ea"/>
              </a:rPr>
              <a:t>            }</a:t>
            </a:r>
            <a:endParaRPr lang="en-IN" altLang="en-US" sz="2665"/>
          </a:p>
          <a:p>
            <a:pPr marL="0" indent="0">
              <a:buNone/>
            </a:pPr>
            <a:r>
              <a:rPr lang="en-IN" altLang="en-US" sz="2665">
                <a:sym typeface="+mn-ea"/>
              </a:rPr>
              <a:t>        }</a:t>
            </a:r>
            <a:endParaRPr lang="en-IN" altLang="en-US" sz="2665"/>
          </a:p>
          <a:p>
            <a:pPr marL="0" indent="0">
              <a:buNone/>
            </a:pPr>
            <a:endParaRPr lang="en-IN" altLang="en-US" sz="2665"/>
          </a:p>
          <a:p>
            <a:pPr marL="0" indent="0">
              <a:buNone/>
            </a:pPr>
            <a:r>
              <a:rPr lang="en-IN" altLang="en-US" sz="2665">
                <a:sym typeface="+mn-ea"/>
              </a:rPr>
              <a:t>        // Simulate weight updates every 5 seconds</a:t>
            </a:r>
            <a:endParaRPr lang="en-IN" altLang="en-US" sz="2665"/>
          </a:p>
          <a:p>
            <a:pPr marL="0" indent="0">
              <a:buNone/>
            </a:pPr>
            <a:r>
              <a:rPr lang="en-IN" altLang="en-US" sz="2665">
                <a:sym typeface="+mn-ea"/>
              </a:rPr>
              <a:t>        setInterval(updateWeight, 5000);</a:t>
            </a:r>
            <a:endParaRPr lang="en-IN" altLang="en-US" sz="2665"/>
          </a:p>
          <a:p>
            <a:pPr marL="0" indent="0">
              <a:buNone/>
            </a:pPr>
            <a:r>
              <a:rPr lang="en-IN" altLang="en-US" sz="2665">
                <a:sym typeface="+mn-ea"/>
              </a:rPr>
              <a:t>    &lt;/script&gt;</a:t>
            </a:r>
            <a:endParaRPr lang="en-IN" altLang="en-US" sz="2665"/>
          </a:p>
          <a:p>
            <a:pPr marL="0" indent="0">
              <a:buNone/>
            </a:pPr>
            <a:r>
              <a:rPr lang="en-IN" altLang="en-US" sz="2665">
                <a:sym typeface="+mn-ea"/>
              </a:rPr>
              <a:t>&lt;/body&gt;</a:t>
            </a:r>
            <a:endParaRPr lang="en-IN" altLang="en-US" sz="2665"/>
          </a:p>
          <a:p>
            <a:pPr marL="0" indent="0">
              <a:buNone/>
            </a:pPr>
            <a:r>
              <a:rPr lang="en-IN" altLang="en-US" sz="2665">
                <a:sym typeface="+mn-ea"/>
              </a:rPr>
              <a:t>&lt;/html&gt;</a:t>
            </a:r>
            <a:endParaRPr lang="en-IN" altLang="en-US" sz="2665"/>
          </a:p>
          <a:p>
            <a:pPr marL="0" indent="0">
              <a:buNone/>
            </a:pPr>
            <a:endParaRPr lang="en-US" sz="2665"/>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73025"/>
            <a:ext cx="10515600" cy="6785610"/>
          </a:xfrm>
        </p:spPr>
        <p:txBody>
          <a:bodyPr/>
          <a:p>
            <a:pPr marL="0" indent="0">
              <a:buNone/>
            </a:pPr>
            <a:r>
              <a:rPr lang="en-IN" altLang="en-US" b="1">
                <a:sym typeface="+mn-ea"/>
              </a:rPr>
              <a:t>OUTPUT</a:t>
            </a:r>
            <a:r>
              <a:rPr lang="en-IN" altLang="en-US">
                <a:sym typeface="+mn-ea"/>
              </a:rPr>
              <a:t>:</a:t>
            </a:r>
            <a:endParaRPr lang="en-IN" altLang="en-US"/>
          </a:p>
          <a:p>
            <a:pPr marL="0" indent="0">
              <a:buNone/>
            </a:pPr>
            <a:endParaRPr lang="en-US"/>
          </a:p>
        </p:txBody>
      </p:sp>
      <p:pic>
        <p:nvPicPr>
          <p:cNvPr id="4" name="Picture 3"/>
          <p:cNvPicPr>
            <a:picLocks noChangeAspect="1"/>
          </p:cNvPicPr>
          <p:nvPr/>
        </p:nvPicPr>
        <p:blipFill>
          <a:blip r:embed="rId1"/>
          <a:stretch>
            <a:fillRect/>
          </a:stretch>
        </p:blipFill>
        <p:spPr>
          <a:xfrm>
            <a:off x="828675" y="596900"/>
            <a:ext cx="10534650" cy="59258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92100" y="189865"/>
            <a:ext cx="10515600" cy="59150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27355" y="355600"/>
            <a:ext cx="10515600" cy="59150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114300"/>
            <a:ext cx="10515600" cy="627189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3" descr="Screenshot 2023-10-26 101758"/>
          <p:cNvPicPr>
            <a:picLocks noChangeAspect="1"/>
          </p:cNvPicPr>
          <p:nvPr>
            <p:ph idx="1"/>
          </p:nvPr>
        </p:nvPicPr>
        <p:blipFill>
          <a:blip r:embed="rId1"/>
          <a:stretch>
            <a:fillRect/>
          </a:stretch>
        </p:blipFill>
        <p:spPr>
          <a:xfrm>
            <a:off x="605790" y="309245"/>
            <a:ext cx="10515600" cy="591502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9565" y="339725"/>
            <a:ext cx="11563985" cy="6177915"/>
          </a:xfrm>
        </p:spPr>
        <p:txBody>
          <a:bodyPr/>
          <a:p>
            <a:pPr marL="0" indent="0">
              <a:buNone/>
            </a:pPr>
            <a:r>
              <a:rPr lang="en-IN" altLang="en-US" b="1">
                <a:sym typeface="+mn-ea"/>
              </a:rPr>
              <a:t>Conclusion:</a:t>
            </a:r>
            <a:endParaRPr lang="en-IN" altLang="en-US" b="1"/>
          </a:p>
          <a:p>
            <a:pPr>
              <a:buFont typeface="Arial" panose="020B0604020202020204" pitchFamily="34" charset="0"/>
              <a:buChar char="•"/>
            </a:pPr>
            <a:r>
              <a:rPr lang="en-IN" altLang="en-US">
                <a:sym typeface="+mn-ea"/>
              </a:rPr>
              <a:t>Public transportation optimization using IoT is a promising field that can improve the passenger experience by offering real-time vehicle tracking, improved responses in the event of an unexpected event, and personalized travel information </a:t>
            </a:r>
            <a:endParaRPr lang="en-IN" altLang="en-US"/>
          </a:p>
          <a:p>
            <a:pPr>
              <a:buFont typeface="Arial" panose="020B0604020202020204" pitchFamily="34" charset="0"/>
              <a:buChar char="•"/>
            </a:pPr>
            <a:r>
              <a:rPr lang="en-IN" altLang="en-US">
                <a:sym typeface="+mn-ea"/>
              </a:rPr>
              <a:t>A proposed system aims to provide better bus management that is capable of bus tracking, route scheduling, E-ticketing via IoT, eventually making commuter’s journey peaceful, saving paper through digitalization</a:t>
            </a:r>
            <a:endParaRPr lang="en-IN" altLang="en-US"/>
          </a:p>
          <a:p>
            <a:pPr marL="0" indent="0">
              <a:buNone/>
            </a:pP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24514</Words>
  <Application>WPS Presentation</Application>
  <PresentationFormat>Widescreen</PresentationFormat>
  <Paragraphs>410</Paragraphs>
  <Slides>43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Arial</vt:lpstr>
      <vt:lpstr>SimSun</vt:lpstr>
      <vt:lpstr>Wingdings</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RISHEKA V</dc:creator>
  <cp:lastModifiedBy>rishe</cp:lastModifiedBy>
  <cp:revision>7</cp:revision>
  <dcterms:created xsi:type="dcterms:W3CDTF">2023-10-30T06:50:00Z</dcterms:created>
  <dcterms:modified xsi:type="dcterms:W3CDTF">2023-10-30T11:47:32Z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0CA8209DADF240D488D07882437EB9A5_12</vt:lpwstr>
  </property>
  <property fmtid="{D5CDD505-2E9C-101B-9397-08002B2CF9AE}" pid="3" name="KSOProductBuildVer">
    <vt:lpwstr>1033-12.2.0.13266</vt:lpwstr>
  </property>
</Properties>
</file>