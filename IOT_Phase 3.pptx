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72" r:id="rId5"/>
    <p:sldId id="273" r:id="rId6"/>
    <p:sldId id="274" r:id="rId7"/>
    <p:sldId id="257" r:id="rId8"/>
    <p:sldId id="260" r:id="rId9"/>
    <p:sldId id="261" r:id="rId10"/>
    <p:sldId id="262" r:id="rId11"/>
    <p:sldId id="259" r:id="rId12"/>
    <p:sldId id="267" r:id="rId13"/>
    <p:sldId id="268" r:id="rId14"/>
    <p:sldId id="264"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FigureOut">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1155" y="160020"/>
            <a:ext cx="11510645" cy="6463030"/>
          </a:xfrm>
        </p:spPr>
        <p:txBody>
          <a:bodyPr>
            <a:normAutofit fontScale="70000"/>
          </a:bodyPr>
          <a:lstStyle/>
          <a:p>
            <a:pPr algn="ctr"/>
            <a:r>
              <a:rPr lang="en-US" sz="4400"/>
              <a:t>SENSORS USED</a:t>
            </a:r>
            <a:endParaRPr lang="en-US" sz="4400"/>
          </a:p>
          <a:p>
            <a:pPr marL="457200" indent="-457200" algn="l">
              <a:buFont typeface="Wingdings" panose="05000000000000000000" charset="0"/>
              <a:buChar char="Ø"/>
            </a:pPr>
            <a:r>
              <a:rPr lang="en-US" sz="4400"/>
              <a:t>HC-SR04</a:t>
            </a:r>
            <a:endParaRPr lang="en-US" sz="3600"/>
          </a:p>
          <a:p>
            <a:pPr marL="571500" indent="-571500" algn="l">
              <a:buFont typeface="Arial" panose="020B0604020202020204" pitchFamily="34" charset="0"/>
              <a:buChar char="•"/>
            </a:pPr>
            <a:r>
              <a:rPr lang="en-US" sz="3600" b="1"/>
              <a:t>Working Principle</a:t>
            </a:r>
            <a:r>
              <a:rPr lang="en-US" sz="3600"/>
              <a:t>: The HC-SR04 sensor operates on the principle of echolocation, similar to how bats navigate. It emits ultrasonic sound waves (inaudible to the human ear) and measures the time it takes for the sound waves to bounce back after hitting an object. By knowing the speed of sound in the air, it can calculate the distance to the object.</a:t>
            </a:r>
            <a:endParaRPr lang="en-US" sz="3600"/>
          </a:p>
          <a:p>
            <a:pPr marL="571500" indent="-571500" algn="l">
              <a:buFont typeface="Arial" panose="020B0604020202020204" pitchFamily="34" charset="0"/>
              <a:buChar char="•"/>
            </a:pPr>
            <a:r>
              <a:rPr lang="en-US" sz="3600" b="1"/>
              <a:t>Components</a:t>
            </a:r>
            <a:r>
              <a:rPr lang="en-US" sz="3600"/>
              <a:t>: The HC-SR04 module consists of several key components, including:</a:t>
            </a:r>
            <a:endParaRPr lang="en-US" sz="3600"/>
          </a:p>
          <a:p>
            <a:pPr algn="l">
              <a:buFont typeface="Arial" panose="020B0604020202020204" pitchFamily="34" charset="0"/>
            </a:pPr>
            <a:r>
              <a:rPr lang="en-US" sz="3600"/>
              <a:t>            &gt; </a:t>
            </a:r>
            <a:r>
              <a:rPr lang="en-US" sz="3600"/>
              <a:t>Ultrasonic Transmitter: Emits high-frequency sound waves.</a:t>
            </a:r>
            <a:endParaRPr lang="en-US" sz="3600"/>
          </a:p>
          <a:p>
            <a:pPr algn="l">
              <a:buFont typeface="Arial" panose="020B0604020202020204" pitchFamily="34" charset="0"/>
            </a:pPr>
            <a:r>
              <a:rPr lang="en-US" sz="3600"/>
              <a:t>            &gt; </a:t>
            </a:r>
            <a:r>
              <a:rPr lang="en-US" sz="3600"/>
              <a:t>Ultrasonic Receiver: Detects the reflected sound waves.</a:t>
            </a:r>
            <a:endParaRPr lang="en-US" sz="3600"/>
          </a:p>
          <a:p>
            <a:pPr algn="l">
              <a:buFont typeface="Arial" panose="020B0604020202020204" pitchFamily="34" charset="0"/>
            </a:pPr>
            <a:r>
              <a:rPr lang="en-US" sz="3600"/>
              <a:t>            &gt; Control Circuit: Manages the timing and distance</a:t>
            </a:r>
            <a:r>
              <a:rPr lang="en-IN" altLang="en-US" sz="3600"/>
              <a:t> </a:t>
            </a:r>
            <a:r>
              <a:rPr lang="en-US" sz="3600"/>
              <a:t>calculation.</a:t>
            </a:r>
            <a:endParaRPr lang="en-US" sz="3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838200" y="364490"/>
            <a:ext cx="10515600" cy="5812790"/>
          </a:xfrm>
        </p:spPr>
        <p:txBody>
          <a:bodyPr/>
          <a:p>
            <a:r>
              <a:rPr lang="en-US" b="1"/>
              <a:t>Arduino and Raspberry Pi Compatibility: </a:t>
            </a:r>
            <a:endParaRPr lang="en-US"/>
          </a:p>
          <a:p>
            <a:pPr marL="0" indent="0">
              <a:buNone/>
            </a:pPr>
            <a:r>
              <a:rPr lang="en-US"/>
              <a:t>  </a:t>
            </a:r>
            <a:r>
              <a:rPr lang="en-US" sz="2400"/>
              <a:t>The HC-SR04 sensor is widely used with microcontrollers like Arduino and single-board computers like Raspberry Pi. Libraries and code examples are available for easy integration into your projects.</a:t>
            </a:r>
            <a:endParaRPr lang="en-US" sz="2400"/>
          </a:p>
          <a:p>
            <a:pPr marL="0" indent="0">
              <a:buNone/>
            </a:pPr>
            <a:endParaRPr lang="en-US" sz="2400"/>
          </a:p>
          <a:p>
            <a:r>
              <a:rPr lang="en-US" b="1"/>
              <a:t>Applications: </a:t>
            </a:r>
            <a:endParaRPr lang="en-US"/>
          </a:p>
          <a:p>
            <a:pPr marL="0" indent="0">
              <a:buNone/>
            </a:pPr>
            <a:r>
              <a:rPr lang="en-US"/>
              <a:t>  </a:t>
            </a:r>
            <a:r>
              <a:rPr lang="en-US" sz="2400"/>
              <a:t>The HC-SR04 sensor is versatile and finds applications in various projects, including obstacle avoidance for robots, measuring liquid levels in tanks, parking assist systems, and distance measurement in IoT applications.</a:t>
            </a:r>
            <a:endParaRPr 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0" y="400050"/>
            <a:ext cx="12192635" cy="6457315"/>
          </a:xfrm>
        </p:spPr>
        <p:txBody>
          <a:bodyPr/>
          <a:p>
            <a:pPr>
              <a:buFont typeface="Wingdings" panose="05000000000000000000" charset="0"/>
              <a:buChar char="Ø"/>
            </a:pPr>
            <a:r>
              <a:rPr lang="en-IN" altLang="en-US"/>
              <a:t>ESP32</a:t>
            </a:r>
            <a:endParaRPr lang="en-IN" altLang="en-US"/>
          </a:p>
          <a:p>
            <a:pPr marL="0" indent="0">
              <a:buFont typeface="Wingdings" panose="05000000000000000000" charset="0"/>
              <a:buNone/>
            </a:pPr>
            <a:r>
              <a:rPr lang="en-IN" altLang="en-US" sz="2400" b="1"/>
              <a:t>Dual-Core Processor:</a:t>
            </a:r>
            <a:r>
              <a:rPr lang="en-IN" altLang="en-US" sz="2400"/>
              <a:t> </a:t>
            </a:r>
            <a:endParaRPr lang="en-IN" altLang="en-US" sz="2400"/>
          </a:p>
          <a:p>
            <a:pPr marL="0" indent="0">
              <a:buFont typeface="Wingdings" panose="05000000000000000000" charset="0"/>
              <a:buNone/>
            </a:pPr>
            <a:r>
              <a:rPr lang="en-IN" altLang="en-US" sz="2400"/>
              <a:t>          The ESP32 features two Tensilica Xtensa LX6 microprocessor cores. These dual cores can be used to handle different tasks simultaneously, making it suitable for multitasking applications.</a:t>
            </a:r>
            <a:endParaRPr lang="en-IN" altLang="en-US" sz="2400"/>
          </a:p>
          <a:p>
            <a:pPr marL="0" indent="0">
              <a:buFont typeface="Wingdings" panose="05000000000000000000" charset="0"/>
              <a:buNone/>
            </a:pPr>
            <a:r>
              <a:rPr lang="en-IN" altLang="en-US" sz="2400" b="1"/>
              <a:t>Wireless Connectivity:</a:t>
            </a:r>
            <a:r>
              <a:rPr lang="en-IN" altLang="en-US" sz="2400"/>
              <a:t> </a:t>
            </a:r>
            <a:endParaRPr lang="en-IN" altLang="en-US" sz="2400"/>
          </a:p>
          <a:p>
            <a:pPr marL="0" indent="0">
              <a:buFont typeface="Wingdings" panose="05000000000000000000" charset="0"/>
              <a:buNone/>
            </a:pPr>
            <a:r>
              <a:rPr lang="en-IN" altLang="en-US" sz="2400"/>
              <a:t>          The ESP32 is known for its extensive wireless capabilities. It supports both Wi-Fi (802.11b/g/n) and Bluetooth (Bluetooth Classic and BLE) communication. This makes it suitable for IoT projects requiring wireless connectivity.</a:t>
            </a:r>
            <a:endParaRPr lang="en-IN" altLang="en-US" sz="2400"/>
          </a:p>
          <a:p>
            <a:pPr marL="0" indent="0">
              <a:buFont typeface="Wingdings" panose="05000000000000000000" charset="0"/>
              <a:buNone/>
            </a:pPr>
            <a:r>
              <a:rPr lang="en-IN" altLang="en-US" sz="2400" b="1"/>
              <a:t>Integrated Peripherals:</a:t>
            </a:r>
            <a:r>
              <a:rPr lang="en-IN" altLang="en-US" sz="2400"/>
              <a:t> </a:t>
            </a:r>
            <a:endParaRPr lang="en-IN" altLang="en-US" sz="2400"/>
          </a:p>
          <a:p>
            <a:pPr marL="0" indent="0">
              <a:buFont typeface="Wingdings" panose="05000000000000000000" charset="0"/>
              <a:buNone/>
            </a:pPr>
            <a:r>
              <a:rPr lang="en-IN" altLang="en-US" sz="2400"/>
              <a:t>          It includes a variety of peripherals such as GPIO pins, UART, SPI, I2C, PWM, and more, making it suitable for interfacing with various sensors and actuators.</a:t>
            </a:r>
            <a:endParaRPr lang="en-IN" altLang="en-US" sz="2400"/>
          </a:p>
          <a:p>
            <a:pPr marL="0" indent="0">
              <a:buFont typeface="Wingdings" panose="05000000000000000000" charset="0"/>
              <a:buNone/>
            </a:pPr>
            <a:r>
              <a:rPr lang="en-IN" altLang="en-US" sz="2400" b="1"/>
              <a:t>Ultra-Low Power Consumption:</a:t>
            </a:r>
            <a:r>
              <a:rPr lang="en-IN" altLang="en-US" sz="2400"/>
              <a:t> </a:t>
            </a:r>
            <a:endParaRPr lang="en-IN" altLang="en-US" sz="2400"/>
          </a:p>
          <a:p>
            <a:pPr marL="0" indent="0">
              <a:buFont typeface="Wingdings" panose="05000000000000000000" charset="0"/>
              <a:buNone/>
            </a:pPr>
            <a:r>
              <a:rPr lang="en-IN" altLang="en-US" sz="2400"/>
              <a:t>         The ESP32 is designed for power efficiency and offers different power modes to conserve energy, making it suitable for battery-powered applications</a:t>
            </a:r>
            <a:r>
              <a:rPr lang="en-IN" altLang="en-US"/>
              <a:t>.</a:t>
            </a:r>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0" y="108585"/>
            <a:ext cx="12192635" cy="6750050"/>
          </a:xfrm>
        </p:spPr>
        <p:txBody>
          <a:bodyPr/>
          <a:p>
            <a:r>
              <a:rPr lang="en-US" sz="2400" b="1"/>
              <a:t>Rich Development Ecosystem:</a:t>
            </a:r>
            <a:r>
              <a:rPr lang="en-US" sz="2400"/>
              <a:t> </a:t>
            </a:r>
            <a:endParaRPr lang="en-US" sz="2400"/>
          </a:p>
          <a:p>
            <a:pPr marL="0" indent="0">
              <a:buNone/>
            </a:pPr>
            <a:r>
              <a:rPr lang="en-IN" altLang="en-US" sz="2400"/>
              <a:t>          </a:t>
            </a:r>
            <a:r>
              <a:rPr lang="en-US" sz="2400"/>
              <a:t>There are various software development platforms and IDEs available for programming the ESP32, including the Arduino IDE, PlatformIO, and the official Espressif IDF (IoT Development Framework).</a:t>
            </a:r>
            <a:endParaRPr lang="en-US" sz="2400"/>
          </a:p>
          <a:p>
            <a:r>
              <a:rPr lang="en-US" sz="2400" b="1"/>
              <a:t>Security Features:</a:t>
            </a:r>
            <a:r>
              <a:rPr lang="en-US" sz="2400"/>
              <a:t> </a:t>
            </a:r>
            <a:endParaRPr lang="en-US" sz="2400"/>
          </a:p>
          <a:p>
            <a:pPr marL="0" indent="0">
              <a:buNone/>
            </a:pPr>
            <a:r>
              <a:rPr lang="en-IN" altLang="en-US" sz="2400"/>
              <a:t>          </a:t>
            </a:r>
            <a:r>
              <a:rPr lang="en-US" sz="2400"/>
              <a:t>The ESP32 has built-in security features like secure boot and flash encryption to protect your applications and data.</a:t>
            </a:r>
            <a:endParaRPr lang="en-US" sz="2400"/>
          </a:p>
          <a:p>
            <a:r>
              <a:rPr lang="en-US" sz="2400" b="1"/>
              <a:t>Support for Over-the-Air (OTA) Updates:</a:t>
            </a:r>
            <a:endParaRPr lang="en-US" sz="2400" b="1"/>
          </a:p>
          <a:p>
            <a:pPr marL="0" indent="0">
              <a:buNone/>
            </a:pPr>
            <a:r>
              <a:rPr lang="en-IN" altLang="en-US" sz="2400"/>
              <a:t>         </a:t>
            </a:r>
            <a:r>
              <a:rPr lang="en-US" sz="2400"/>
              <a:t> This feature allows you to update the firmware of your ESP32 remotely, making it easier to maintain IoT devices in the field.</a:t>
            </a:r>
            <a:endParaRPr lang="en-US" sz="2400"/>
          </a:p>
          <a:p>
            <a:r>
              <a:rPr lang="en-US" sz="2400" b="1"/>
              <a:t>Wide Operating Voltage Range:</a:t>
            </a:r>
            <a:endParaRPr lang="en-US" sz="2400" b="1"/>
          </a:p>
          <a:p>
            <a:pPr marL="0" indent="0">
              <a:buNone/>
            </a:pPr>
            <a:r>
              <a:rPr lang="en-IN" altLang="en-US" sz="2400"/>
              <a:t>          </a:t>
            </a:r>
            <a:r>
              <a:rPr lang="en-US" sz="2400"/>
              <a:t>The ESP32 can operate within a wide voltage range, typically from 2.2V to 3.6V, making it compatible with a variety of power sources</a:t>
            </a:r>
            <a:endParaRPr lang="en-US" sz="2400"/>
          </a:p>
          <a:p>
            <a:pPr marL="0" indent="0">
              <a:buNone/>
            </a:pPr>
            <a:r>
              <a:rPr lang="en-US" sz="2400" b="1"/>
              <a:t>Bluetooth Audio and Dual Mode:</a:t>
            </a:r>
            <a:endParaRPr lang="en-US" sz="2400" b="1"/>
          </a:p>
          <a:p>
            <a:pPr marL="0" indent="0">
              <a:buNone/>
            </a:pPr>
            <a:r>
              <a:rPr lang="en-US" sz="2400" b="1"/>
              <a:t> </a:t>
            </a:r>
            <a:r>
              <a:rPr lang="en-IN" altLang="en-US" sz="2400" b="1"/>
              <a:t>          </a:t>
            </a:r>
            <a:r>
              <a:rPr lang="en-US" sz="2400"/>
              <a:t>It supports both classic Bluetooth and Bluetooth Low Energy (BLE), making it suitable for audio streaming and IoT applications.</a:t>
            </a:r>
            <a:endParaRPr 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609600" y="367030"/>
            <a:ext cx="10972800" cy="5759450"/>
          </a:xfrm>
        </p:spPr>
        <p:txBody>
          <a:bodyPr/>
          <a:p>
            <a:r>
              <a:rPr lang="en-US" sz="2400" b="1"/>
              <a:t>Hardware Security Acceleration:</a:t>
            </a:r>
            <a:r>
              <a:rPr lang="en-US" sz="2400"/>
              <a:t> </a:t>
            </a:r>
            <a:endParaRPr lang="en-US" sz="2400"/>
          </a:p>
          <a:p>
            <a:pPr marL="0" indent="0">
              <a:buNone/>
            </a:pPr>
            <a:r>
              <a:rPr lang="en-IN" altLang="en-US" sz="2400"/>
              <a:t>         </a:t>
            </a:r>
            <a:r>
              <a:rPr lang="en-US" sz="2400"/>
              <a:t>Some versions of the ESP32 include hardware acceleration for cryptographic operations, which enhances the security of your applications.</a:t>
            </a:r>
            <a:endParaRPr lang="en-US" sz="2400"/>
          </a:p>
          <a:p>
            <a:r>
              <a:rPr lang="en-US" sz="2400" b="1"/>
              <a:t>Variants:</a:t>
            </a:r>
            <a:endParaRPr lang="en-US" sz="2400" b="1"/>
          </a:p>
          <a:p>
            <a:pPr marL="0" indent="0">
              <a:buNone/>
            </a:pPr>
            <a:r>
              <a:rPr lang="en-IN" altLang="en-US" sz="2400"/>
              <a:t>        </a:t>
            </a:r>
            <a:r>
              <a:rPr lang="en-US" sz="2400"/>
              <a:t> There are several variants of the ESP32, each with its specific features and capabilities. For example, the ESP32-WROOM-32 is a common module used for development</a:t>
            </a:r>
            <a:r>
              <a:rPr lang="en-IN" altLang="en-US" sz="2400"/>
              <a:t>.</a:t>
            </a:r>
            <a:endParaRPr lang="en-US" sz="2400"/>
          </a:p>
          <a:p>
            <a:endParaRPr lang="en-US" sz="2400"/>
          </a:p>
          <a:p>
            <a:r>
              <a:rPr lang="en-US" sz="2400"/>
              <a:t>The ESP32 is widely used in various IoT and embedded systems projects, including home automation, smart devices, environmental monitoring, and more. Its versatility, low cost, and extensive development ecosystem have contributed to its popularity among developers and makers.</a:t>
            </a:r>
            <a:endParaRPr 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357505" y="448945"/>
            <a:ext cx="11515090" cy="5958840"/>
          </a:xfrm>
        </p:spPr>
        <p:txBody>
          <a:bodyPr>
            <a:normAutofit fontScale="80000"/>
          </a:bodyPr>
          <a:p>
            <a:r>
              <a:rPr lang="en-US" sz="3600" b="1"/>
              <a:t>Specifications:</a:t>
            </a:r>
            <a:endParaRPr lang="en-US" sz="3600" b="1"/>
          </a:p>
          <a:p>
            <a:pPr marL="0" indent="0">
              <a:buNone/>
            </a:pPr>
            <a:r>
              <a:rPr lang="en-US" sz="2400"/>
              <a:t>  Operating Voltage: Typically operates at 5V DC.</a:t>
            </a:r>
            <a:endParaRPr lang="en-US" sz="2400"/>
          </a:p>
          <a:p>
            <a:pPr marL="0" indent="0">
              <a:buNone/>
            </a:pPr>
            <a:r>
              <a:rPr lang="en-US" sz="2400"/>
              <a:t>  Measurement Range: The HC-SR04 can measure distances accurately within a range of 2 cm (0.79 inches) to 4 meters (13.1 feet) with a resolution of about 3 mm.</a:t>
            </a:r>
            <a:endParaRPr lang="en-US" sz="2400"/>
          </a:p>
          <a:p>
            <a:pPr marL="0" indent="0">
              <a:buNone/>
            </a:pPr>
            <a:r>
              <a:rPr lang="en-US" sz="2400"/>
              <a:t>  Accuracy: It provides reasonably accurate distance measurements, but the precision may decrease with highly reflective or irregularly shaped objects.</a:t>
            </a:r>
            <a:endParaRPr lang="en-US" sz="2400"/>
          </a:p>
          <a:p>
            <a:pPr marL="0" indent="0">
              <a:buNone/>
            </a:pPr>
            <a:r>
              <a:rPr lang="en-US" sz="2400"/>
              <a:t>  Operating Angle: The sensor has a wide-angle of approximately 15 degrees, which can be important for some applications.</a:t>
            </a:r>
            <a:endParaRPr lang="en-US" sz="2400"/>
          </a:p>
          <a:p>
            <a:pPr marL="0" indent="0">
              <a:buNone/>
            </a:pPr>
            <a:r>
              <a:rPr lang="en-US" sz="2400"/>
              <a:t>  Trigger and Echo Pins: The module has two pins, namely Trigger (Trig) and Echo, which are used for controlling the sensor and receiving measurement data, respectively.</a:t>
            </a:r>
            <a:endParaRPr lang="en-US" sz="2400"/>
          </a:p>
          <a:p>
            <a:r>
              <a:rPr lang="en-US" sz="3200" b="1"/>
              <a:t>Operating Procedure:</a:t>
            </a:r>
            <a:endParaRPr lang="en-US" sz="3200" b="1"/>
          </a:p>
          <a:p>
            <a:pPr marL="0" indent="0">
              <a:buNone/>
            </a:pPr>
            <a:r>
              <a:rPr lang="en-US" sz="2400"/>
              <a:t>   To measure the distance, you need to send a short 10-microsecond pulse to the Trigger pin, which initiates the ultrasonic transmission.</a:t>
            </a:r>
            <a:endParaRPr lang="en-US" sz="2400"/>
          </a:p>
          <a:p>
            <a:pPr marL="0" indent="0">
              <a:buNone/>
            </a:pPr>
            <a:r>
              <a:rPr lang="en-US" sz="2400"/>
              <a:t>  The sensor will then wait for the sound waves to bounce back. When it detects the reflected waves, it sets the Echo pin to a high state.</a:t>
            </a:r>
            <a:endParaRPr lang="en-US" sz="2400"/>
          </a:p>
          <a:p>
            <a:pPr marL="0" indent="0">
              <a:buNone/>
            </a:pPr>
            <a:r>
              <a:rPr lang="en-US" sz="2400"/>
              <a:t>  You can measure the time between the trigger pulse and the moment when the Echo pin goes high to calculate the distance.</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386080" y="259080"/>
            <a:ext cx="11468100" cy="6369685"/>
          </a:xfrm>
        </p:spPr>
        <p:txBody>
          <a:bodyPr>
            <a:normAutofit fontScale="90000"/>
          </a:bodyPr>
          <a:p>
            <a:r>
              <a:rPr lang="en-US" sz="2665" b="1"/>
              <a:t>Preprocessor Directives:</a:t>
            </a:r>
            <a:r>
              <a:rPr lang="en-US" sz="2665"/>
              <a:t> </a:t>
            </a:r>
            <a:endParaRPr lang="en-US" sz="2665"/>
          </a:p>
          <a:p>
            <a:pPr marL="0" indent="0">
              <a:buNone/>
            </a:pPr>
            <a:r>
              <a:rPr lang="en-US"/>
              <a:t> </a:t>
            </a:r>
            <a:r>
              <a:rPr lang="en-IN" altLang="en-US"/>
              <a:t>         </a:t>
            </a:r>
            <a:r>
              <a:rPr lang="en-US" sz="1900"/>
              <a:t>This section defines some constant values such as template ID, template name, and authentication token for connecting to the Blynk IoT platform.</a:t>
            </a:r>
            <a:endParaRPr lang="en-US" sz="1900"/>
          </a:p>
          <a:p>
            <a:r>
              <a:rPr lang="en-US" sz="2665" b="1"/>
              <a:t>Library Inclusions:</a:t>
            </a:r>
            <a:r>
              <a:rPr lang="en-US" b="1"/>
              <a:t> </a:t>
            </a:r>
            <a:endParaRPr lang="en-US" b="1"/>
          </a:p>
          <a:p>
            <a:pPr marL="0" indent="0">
              <a:buNone/>
            </a:pPr>
            <a:r>
              <a:rPr lang="en-IN" altLang="en-US" sz="2400"/>
              <a:t>           </a:t>
            </a:r>
            <a:r>
              <a:rPr lang="en-IN" altLang="en-US" sz="2110"/>
              <a:t> </a:t>
            </a:r>
            <a:r>
              <a:rPr lang="en-US" sz="2110"/>
              <a:t>The program includes several libraries for WiFi connectivity, Blynk integration, and client management.</a:t>
            </a:r>
            <a:endParaRPr lang="en-US"/>
          </a:p>
          <a:p>
            <a:r>
              <a:rPr lang="en-US" sz="2665" b="1"/>
              <a:t>Global Variables: </a:t>
            </a:r>
            <a:endParaRPr lang="en-US" b="1"/>
          </a:p>
          <a:p>
            <a:pPr marL="0" indent="0">
              <a:buNone/>
            </a:pPr>
            <a:r>
              <a:rPr lang="en-IN" altLang="en-US" sz="2400"/>
              <a:t>            </a:t>
            </a:r>
            <a:r>
              <a:rPr lang="en-US" sz="2110"/>
              <a:t>Various global variables are declared, including variables for storing distances, counters for entering and leaving an area, and pin assignments for LEDs and ultrasonic sensors.</a:t>
            </a:r>
            <a:endParaRPr lang="en-US" sz="2110"/>
          </a:p>
          <a:p>
            <a:r>
              <a:rPr lang="en-US" sz="2665" b="1">
                <a:sym typeface="+mn-ea"/>
              </a:rPr>
              <a:t>BlynkTimer</a:t>
            </a:r>
            <a:r>
              <a:rPr lang="en-IN" altLang="en-US" sz="2665" b="1">
                <a:sym typeface="+mn-ea"/>
              </a:rPr>
              <a:t>:</a:t>
            </a:r>
            <a:endParaRPr lang="en-IN" altLang="en-US" sz="2665" b="1">
              <a:sym typeface="+mn-ea"/>
            </a:endParaRPr>
          </a:p>
          <a:p>
            <a:pPr marL="0" indent="0">
              <a:buNone/>
            </a:pPr>
            <a:r>
              <a:rPr lang="en-IN" altLang="en-US" sz="2400"/>
              <a:t>          </a:t>
            </a:r>
            <a:r>
              <a:rPr lang="en-IN" altLang="en-US" sz="2110"/>
              <a:t>  </a:t>
            </a:r>
            <a:r>
              <a:rPr lang="en-US" sz="2110"/>
              <a:t>The program defines a BlynkTimer named "timer." This timer is used to trigger a specific function at regular intervals.</a:t>
            </a:r>
            <a:endParaRPr lang="en-US" sz="2400"/>
          </a:p>
          <a:p>
            <a:r>
              <a:rPr lang="en-US" sz="2665" b="1"/>
              <a:t>Distance Measurement Functions:</a:t>
            </a:r>
            <a:r>
              <a:rPr lang="en-US" sz="2665"/>
              <a:t> </a:t>
            </a:r>
            <a:endParaRPr lang="en-US" sz="2665"/>
          </a:p>
          <a:p>
            <a:pPr marL="0" indent="0">
              <a:buNone/>
            </a:pPr>
            <a:r>
              <a:rPr lang="en-IN" altLang="en-US" sz="2400"/>
              <a:t>           </a:t>
            </a:r>
            <a:r>
              <a:rPr lang="en-US" sz="2110"/>
              <a:t>Two functions, get_distance1() and get_distance2(), are defined for measuring distances using ultrasonic sensors. These functions are called periodically by the timer.</a:t>
            </a:r>
            <a:endParaRPr lang="en-US" sz="211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348615" y="286385"/>
            <a:ext cx="11581130" cy="6160770"/>
          </a:xfrm>
        </p:spPr>
        <p:txBody>
          <a:bodyPr>
            <a:normAutofit fontScale="60000"/>
          </a:bodyPr>
          <a:p>
            <a:pPr marL="0" indent="0">
              <a:buNone/>
            </a:pPr>
            <a:r>
              <a:rPr lang="en-US" sz="4000" b="1"/>
              <a:t>myTimer Function:</a:t>
            </a:r>
            <a:endParaRPr lang="en-US" sz="3500" b="1"/>
          </a:p>
          <a:p>
            <a:pPr marL="0" indent="0">
              <a:buNone/>
            </a:pPr>
            <a:r>
              <a:rPr lang="en-IN" altLang="en-US"/>
              <a:t>     </a:t>
            </a:r>
            <a:r>
              <a:rPr lang="en-US" sz="3335"/>
              <a:t> This function is called at regular intervals by the Blynk timer. It performs the following tasks:</a:t>
            </a:r>
            <a:endParaRPr lang="en-US" sz="3335"/>
          </a:p>
          <a:p>
            <a:pPr marL="0" indent="0">
              <a:buNone/>
            </a:pPr>
            <a:r>
              <a:rPr lang="en-IN" altLang="en-US" sz="3335"/>
              <a:t>      </a:t>
            </a:r>
            <a:r>
              <a:rPr lang="en-US" sz="3335"/>
              <a:t>Measures the distance from the two ultrasonic sensors.</a:t>
            </a:r>
            <a:endParaRPr lang="en-US" sz="3335"/>
          </a:p>
          <a:p>
            <a:pPr marL="0" indent="0">
              <a:buNone/>
            </a:pPr>
            <a:r>
              <a:rPr lang="en-IN" altLang="en-US" sz="3335"/>
              <a:t>      </a:t>
            </a:r>
            <a:r>
              <a:rPr lang="en-US" sz="3335"/>
              <a:t>Compares the distances and keeps track of the number of times someone enters and leaves the area.</a:t>
            </a:r>
            <a:endParaRPr lang="en-US" sz="3335"/>
          </a:p>
          <a:p>
            <a:pPr marL="0" indent="0">
              <a:buNone/>
            </a:pPr>
            <a:r>
              <a:rPr lang="en-IN" altLang="en-US" sz="3335"/>
              <a:t>      </a:t>
            </a:r>
            <a:r>
              <a:rPr lang="en-US" sz="3335"/>
              <a:t>Updates the Blynk app with the counts and the current state of being inside or outside the area.</a:t>
            </a:r>
            <a:endParaRPr lang="en-US" sz="3335"/>
          </a:p>
          <a:p>
            <a:r>
              <a:rPr lang="en-US" sz="4000" b="1"/>
              <a:t>Setup Function:</a:t>
            </a:r>
            <a:r>
              <a:rPr lang="en-US" sz="3500" b="1"/>
              <a:t> </a:t>
            </a:r>
            <a:endParaRPr lang="en-US" sz="3500" b="1"/>
          </a:p>
          <a:p>
            <a:pPr marL="0" indent="0">
              <a:buNone/>
            </a:pPr>
            <a:r>
              <a:rPr lang="en-IN" altLang="en-US"/>
              <a:t>     </a:t>
            </a:r>
            <a:r>
              <a:rPr lang="en-IN" altLang="en-US" sz="3335"/>
              <a:t> </a:t>
            </a:r>
            <a:r>
              <a:rPr lang="en-US" sz="3335"/>
              <a:t>In the setup() function, the program initializes the following:</a:t>
            </a:r>
            <a:endParaRPr lang="en-US" sz="3335"/>
          </a:p>
          <a:p>
            <a:pPr marL="0" indent="0">
              <a:buNone/>
            </a:pPr>
            <a:r>
              <a:rPr lang="en-IN" altLang="en-US" sz="3335"/>
              <a:t>      </a:t>
            </a:r>
            <a:r>
              <a:rPr lang="en-US" sz="3335"/>
              <a:t>Serial communication for debugging.</a:t>
            </a:r>
            <a:endParaRPr lang="en-US" sz="3335"/>
          </a:p>
          <a:p>
            <a:pPr marL="0" indent="0">
              <a:buNone/>
            </a:pPr>
            <a:r>
              <a:rPr lang="en-IN" altLang="en-US" sz="3335"/>
              <a:t>      </a:t>
            </a:r>
            <a:r>
              <a:rPr lang="en-US" sz="3335"/>
              <a:t>Pin modes for LED and ultrasonic sensor trigger and echo pins.</a:t>
            </a:r>
            <a:endParaRPr lang="en-US" sz="3335"/>
          </a:p>
          <a:p>
            <a:pPr marL="0" indent="0">
              <a:buNone/>
            </a:pPr>
            <a:r>
              <a:rPr lang="en-IN" altLang="en-US" sz="3335"/>
              <a:t>      </a:t>
            </a:r>
            <a:r>
              <a:rPr lang="en-US" sz="3335"/>
              <a:t>Blynk connection using the provided authentication token, network SSID, and an empty password.</a:t>
            </a:r>
            <a:endParaRPr lang="en-US" sz="3335"/>
          </a:p>
          <a:p>
            <a:pPr marL="0" indent="0">
              <a:buNone/>
            </a:pPr>
            <a:r>
              <a:rPr lang="en-IN" altLang="en-US" sz="3335"/>
              <a:t>      </a:t>
            </a:r>
            <a:r>
              <a:rPr lang="en-US" sz="3335"/>
              <a:t>Sets the timer interval for calling the myTimer function every 1000 milliseconds (1 second).</a:t>
            </a:r>
            <a:endParaRPr lang="en-US" sz="3335"/>
          </a:p>
          <a:p>
            <a:r>
              <a:rPr lang="en-US" sz="4000" b="1"/>
              <a:t>Loop Function:</a:t>
            </a:r>
            <a:endParaRPr lang="en-US" sz="4000" b="1"/>
          </a:p>
          <a:p>
            <a:pPr marL="0" indent="0">
              <a:buNone/>
            </a:pPr>
            <a:r>
              <a:rPr lang="en-IN" altLang="en-US"/>
              <a:t>    </a:t>
            </a:r>
            <a:r>
              <a:rPr lang="en-US"/>
              <a:t> </a:t>
            </a:r>
            <a:r>
              <a:rPr lang="en-US" sz="3335"/>
              <a:t>The loop() function mainly runs the Blynk and timer services by calling Blynk.run() and timer.run().</a:t>
            </a:r>
            <a:endParaRPr lang="en-US" sz="333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443865" y="209550"/>
            <a:ext cx="11284585" cy="6179185"/>
          </a:xfrm>
        </p:spPr>
        <p:txBody>
          <a:bodyPr/>
          <a:p>
            <a:pPr>
              <a:buFont typeface="Arial" panose="020B0604020202020204" pitchFamily="34" charset="0"/>
              <a:buChar char="•"/>
            </a:pPr>
            <a:r>
              <a:rPr lang="en-US" sz="2400" b="1"/>
              <a:t>Blynk Template Settings:</a:t>
            </a:r>
            <a:r>
              <a:rPr lang="en-US" sz="2400"/>
              <a:t> </a:t>
            </a:r>
            <a:endParaRPr lang="en-US" sz="2400"/>
          </a:p>
          <a:p>
            <a:pPr marL="0" indent="0">
              <a:buFont typeface="Arial" panose="020B0604020202020204" pitchFamily="34" charset="0"/>
              <a:buNone/>
            </a:pPr>
            <a:r>
              <a:rPr lang="en-IN" altLang="en-US"/>
              <a:t>    </a:t>
            </a:r>
            <a:r>
              <a:rPr lang="en-IN" altLang="en-US" sz="1800"/>
              <a:t> </a:t>
            </a:r>
            <a:r>
              <a:rPr lang="en-US" sz="1800"/>
              <a:t>The program starts by defining three constants, BLYNK_TEMPLATE_ID, BLYNK_TEMPLATE_NAME, and BLYNK_AUTH_TOKEN. These are related to the Blynk IoT platform and are used for authenticating and connecting your device to the Blynk cloud service.</a:t>
            </a:r>
            <a:endParaRPr lang="en-US" sz="2000"/>
          </a:p>
          <a:p>
            <a:r>
              <a:rPr lang="en-US" sz="2400" b="1"/>
              <a:t>Variable Declarations:</a:t>
            </a:r>
            <a:r>
              <a:rPr lang="en-US" sz="2400"/>
              <a:t> </a:t>
            </a:r>
            <a:endParaRPr lang="en-US" sz="2400"/>
          </a:p>
          <a:p>
            <a:pPr marL="0" indent="0">
              <a:buNone/>
            </a:pPr>
            <a:r>
              <a:rPr lang="en-IN" altLang="en-US" sz="2400"/>
              <a:t>      </a:t>
            </a:r>
            <a:r>
              <a:rPr lang="en-IN" altLang="en-US" sz="1800"/>
              <a:t> </a:t>
            </a:r>
            <a:r>
              <a:rPr lang="en-US" sz="1800"/>
              <a:t>The code declares various integer variables to store the duration and distance measurements from two distance sensors (distance1 and distance2). It also tracks the number of objects that have entered, left, and are currently inside the monitored area.</a:t>
            </a:r>
            <a:endParaRPr lang="en-US" sz="1800"/>
          </a:p>
          <a:p>
            <a:r>
              <a:rPr lang="en-US" sz="2400" b="1"/>
              <a:t>Pin Definitions:</a:t>
            </a:r>
            <a:r>
              <a:rPr lang="en-US" sz="2400"/>
              <a:t> </a:t>
            </a:r>
            <a:endParaRPr lang="en-US" sz="2000"/>
          </a:p>
          <a:p>
            <a:pPr marL="0" indent="0">
              <a:buNone/>
            </a:pPr>
            <a:r>
              <a:rPr lang="en-IN" altLang="en-US" sz="2000"/>
              <a:t>       </a:t>
            </a:r>
            <a:r>
              <a:rPr lang="en-IN" altLang="en-US" sz="1800"/>
              <a:t> </a:t>
            </a:r>
            <a:r>
              <a:rPr lang="en-US" sz="1800"/>
              <a:t>The program defines several constants that represent the pins for LEDs, trigger and echo pins of two ultrasonic distance sensors (HC-SR04). For example, LED is set to pin 2, and PIN_TRIG1, PIN_ECHO1, PIN_TRIG2, and PIN_ECHO2 correspond to pins 15, 14, 13, and 12, respectively.</a:t>
            </a:r>
            <a:endParaRPr lang="en-US" sz="1800"/>
          </a:p>
          <a:p>
            <a:r>
              <a:rPr lang="en-US" sz="2400" b="1"/>
              <a:t>Wi-Fi and Blynk Configuration: </a:t>
            </a:r>
            <a:endParaRPr lang="en-US" sz="2400" b="1"/>
          </a:p>
          <a:p>
            <a:pPr marL="0" indent="0">
              <a:buNone/>
            </a:pPr>
            <a:r>
              <a:rPr lang="en-IN" altLang="en-US" sz="2000"/>
              <a:t>       </a:t>
            </a:r>
            <a:r>
              <a:rPr lang="en-US" sz="1800"/>
              <a:t>The setup() function initializes serial communication, sets the pin modes, and connects to the Wi-Fi network using the specified SSID and password. It then establishes a connection with the Blynk cloud using the provided authentication token, SSID, and password.</a:t>
            </a:r>
            <a:endParaRPr 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descr="Screenshot 2023-10-17 213555"/>
          <p:cNvPicPr>
            <a:picLocks noChangeAspect="1"/>
          </p:cNvPicPr>
          <p:nvPr>
            <p:ph idx="1"/>
          </p:nvPr>
        </p:nvPicPr>
        <p:blipFill>
          <a:blip r:embed="rId1"/>
          <a:stretch>
            <a:fillRect/>
          </a:stretch>
        </p:blipFill>
        <p:spPr>
          <a:xfrm>
            <a:off x="0" y="864235"/>
            <a:ext cx="12192635" cy="5994400"/>
          </a:xfrm>
          <a:prstGeom prst="rect">
            <a:avLst/>
          </a:prstGeom>
        </p:spPr>
      </p:pic>
      <p:sp>
        <p:nvSpPr>
          <p:cNvPr id="2" name="Text Box 1"/>
          <p:cNvSpPr txBox="1"/>
          <p:nvPr/>
        </p:nvSpPr>
        <p:spPr>
          <a:xfrm>
            <a:off x="20955" y="48260"/>
            <a:ext cx="12148820" cy="606425"/>
          </a:xfrm>
          <a:prstGeom prst="rect">
            <a:avLst/>
          </a:prstGeom>
          <a:noFill/>
        </p:spPr>
        <p:txBody>
          <a:bodyPr wrap="square" rtlCol="0">
            <a:noAutofit/>
          </a:bodyPr>
          <a:p>
            <a:r>
              <a:rPr lang="en-IN" altLang="en-US" sz="3600">
                <a:solidFill>
                  <a:schemeClr val="tx1"/>
                </a:solidFill>
                <a:uFillTx/>
              </a:rPr>
              <a:t>C++ Program</a:t>
            </a:r>
            <a:endParaRPr lang="en-IN" altLang="en-US" sz="3600">
              <a:solidFill>
                <a:schemeClr val="tx1"/>
              </a:solidFill>
              <a:uFillTx/>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023-10-18 175938"/>
          <p:cNvPicPr>
            <a:picLocks noChangeAspect="1"/>
          </p:cNvPicPr>
          <p:nvPr>
            <p:ph idx="1"/>
          </p:nvPr>
        </p:nvPicPr>
        <p:blipFill>
          <a:blip r:embed="rId1"/>
          <a:srcRect t="13915"/>
          <a:stretch>
            <a:fillRect/>
          </a:stretch>
        </p:blipFill>
        <p:spPr>
          <a:xfrm>
            <a:off x="0" y="635"/>
            <a:ext cx="1219263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descr="Screenshot 2023-10-18 180000"/>
          <p:cNvPicPr>
            <a:picLocks noChangeAspect="1"/>
          </p:cNvPicPr>
          <p:nvPr>
            <p:ph idx="1"/>
          </p:nvPr>
        </p:nvPicPr>
        <p:blipFill>
          <a:blip r:embed="rId1"/>
          <a:srcRect t="13843"/>
          <a:stretch>
            <a:fillRect/>
          </a:stretch>
        </p:blipFill>
        <p:spPr>
          <a:xfrm>
            <a:off x="0" y="-635"/>
            <a:ext cx="12192000" cy="68586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descr="output"/>
          <p:cNvPicPr>
            <a:picLocks noChangeAspect="1"/>
          </p:cNvPicPr>
          <p:nvPr/>
        </p:nvPicPr>
        <p:blipFill>
          <a:blip r:embed="rId1"/>
          <a:stretch>
            <a:fillRect/>
          </a:stretch>
        </p:blipFill>
        <p:spPr>
          <a:xfrm>
            <a:off x="6513830" y="562610"/>
            <a:ext cx="5677535" cy="6295390"/>
          </a:xfrm>
          <a:prstGeom prst="rect">
            <a:avLst/>
          </a:prstGeom>
        </p:spPr>
      </p:pic>
      <p:pic>
        <p:nvPicPr>
          <p:cNvPr id="3" name="Content Placeholder 2" descr="program 1"/>
          <p:cNvPicPr>
            <a:picLocks noChangeAspect="1"/>
          </p:cNvPicPr>
          <p:nvPr>
            <p:ph idx="1"/>
          </p:nvPr>
        </p:nvPicPr>
        <p:blipFill>
          <a:blip r:embed="rId2"/>
          <a:stretch>
            <a:fillRect/>
          </a:stretch>
        </p:blipFill>
        <p:spPr>
          <a:xfrm>
            <a:off x="0" y="561975"/>
            <a:ext cx="6513830" cy="6295390"/>
          </a:xfrm>
          <a:prstGeom prst="rect">
            <a:avLst/>
          </a:prstGeom>
        </p:spPr>
      </p:pic>
      <p:sp>
        <p:nvSpPr>
          <p:cNvPr id="2" name="Text Box 1"/>
          <p:cNvSpPr txBox="1"/>
          <p:nvPr/>
        </p:nvSpPr>
        <p:spPr>
          <a:xfrm>
            <a:off x="0" y="26035"/>
            <a:ext cx="12223750" cy="535940"/>
          </a:xfrm>
          <a:prstGeom prst="rect">
            <a:avLst/>
          </a:prstGeom>
          <a:noFill/>
        </p:spPr>
        <p:txBody>
          <a:bodyPr wrap="square" rtlCol="0">
            <a:noAutofit/>
          </a:bodyPr>
          <a:p>
            <a:r>
              <a:rPr lang="en-IN" altLang="en-US" sz="3200"/>
              <a:t>Python Program</a:t>
            </a:r>
            <a:endParaRPr lang="en-IN" altLang="en-US" sz="3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program 2"/>
          <p:cNvPicPr>
            <a:picLocks noChangeAspect="1"/>
          </p:cNvPicPr>
          <p:nvPr>
            <p:ph idx="1"/>
          </p:nvPr>
        </p:nvPicPr>
        <p:blipFill>
          <a:blip r:embed="rId1"/>
          <a:srcRect t="9380"/>
          <a:stretch>
            <a:fillRect/>
          </a:stretch>
        </p:blipFill>
        <p:spPr>
          <a:xfrm>
            <a:off x="0" y="0"/>
            <a:ext cx="6813550" cy="6858000"/>
          </a:xfrm>
          <a:prstGeom prst="rect">
            <a:avLst/>
          </a:prstGeom>
        </p:spPr>
      </p:pic>
      <p:pic>
        <p:nvPicPr>
          <p:cNvPr id="6" name="Picture 5" descr="output"/>
          <p:cNvPicPr>
            <a:picLocks noChangeAspect="1"/>
          </p:cNvPicPr>
          <p:nvPr/>
        </p:nvPicPr>
        <p:blipFill>
          <a:blip r:embed="rId2"/>
          <a:stretch>
            <a:fillRect/>
          </a:stretch>
        </p:blipFill>
        <p:spPr>
          <a:xfrm>
            <a:off x="6813550" y="0"/>
            <a:ext cx="5378450" cy="6932295"/>
          </a:xfrm>
          <a:prstGeom prst="rect">
            <a:avLst/>
          </a:prstGeo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7545</Words>
  <Application>WPS Presentation</Application>
  <PresentationFormat>Widescreen</PresentationFormat>
  <Paragraphs>91</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SimSun</vt:lpstr>
      <vt:lpstr>Wingdings</vt:lpstr>
      <vt:lpstr>Microsoft YaHei</vt:lpstr>
      <vt:lpstr>Arial Unicode MS</vt:lpstr>
      <vt:lpstr>Calibri</vt:lpstr>
      <vt:lpstr>Wingdings</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RISHEKA V</dc:creator>
  <cp:lastModifiedBy>rishe</cp:lastModifiedBy>
  <cp:revision>13</cp:revision>
  <dcterms:created xsi:type="dcterms:W3CDTF">2023-10-17T17:06:00Z</dcterms:created>
  <dcterms:modified xsi:type="dcterms:W3CDTF">2023-10-18T13:09:21Z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2C40A7BA534642178B42895D721C2814_12</vt:lpwstr>
  </property>
  <property fmtid="{D5CDD505-2E9C-101B-9397-08002B2CF9AE}" pid="3" name="KSOProductBuildVer">
    <vt:lpwstr>1033-12.2.0.13266</vt:lpwstr>
  </property>
</Properties>
</file>